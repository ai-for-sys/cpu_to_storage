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99" d="100"/>
          <a:sy n="199" d="100"/>
        </p:scale>
        <p:origin x="684" y="1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4834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 Why Offload KV Cache to Storage?</a:t>
            </a:r>
          </a:p>
          <a:p>
            <a:endParaRPr/>
          </a:p>
          <a:p>
            <a:r>
              <a:t>- The core tradeoff: recalculating KV cache requires a full forward pass through the model (prefill), which is expensive in both compute and latency. If we can reload from storage faster than recalculating, we save GPU cycles and reduce time-to-first-token.</a:t>
            </a:r>
          </a:p>
          <a:p>
            <a:endParaRPr/>
          </a:p>
          <a:p>
            <a:r>
              <a:t>- The three-tier hierarchy: GPU -&gt; CPU eviction already exists in LLMD and is fast (PCIe/NVLink bandwidth). Our project focuses on the second leg: CPU &lt;-&gt; Storage. This leg is triggered when: (a) CPU memory itself is under pressure and must overflow, or (b) the cache needs to persist beyond process lifetime (restarts, migrations, failures).</a:t>
            </a:r>
          </a:p>
          <a:p>
            <a:endParaRPr/>
          </a:p>
          <a:p>
            <a:r>
              <a:t>- CPU memory as hot cache: In many cases, KV blocks evicted from GPU live in CPU memory and are reloaded to GPU without ever touching storage. Storage is the cold tier -- only needed when CPU memory is full or when persistence is required. This means the CPU-&gt;Storage write path can often be backgrounded (not urgent), but the Storage-&gt;CPU read path is latency-critical when it does happen (cache miss in CPU memory).</a:t>
            </a:r>
          </a:p>
          <a:p>
            <a:endParaRPr/>
          </a:p>
          <a:p>
            <a:r>
              <a:t>- GPU -&gt; Storage directly (GDS) -- preferred when available, but often isn't:</a:t>
            </a:r>
          </a:p>
          <a:p>
            <a:r>
              <a:t>  GPUDirect Storage (GDS) is the fastest path -- bypasses CPU entirely via DMA/RDMA. When available, it's preferred. But it has significant availability limitations:</a:t>
            </a:r>
          </a:p>
          <a:p>
            <a:r>
              <a:t>  - Hardware requirements: GDS requires a specific NVIDIA GPU + Mellanox NIC + compatible storage controller + MLNX_OFED drivers. Many production deployments don't have the full stack.</a:t>
            </a:r>
          </a:p>
          <a:p>
            <a:r>
              <a:t>  - Filesystem compatibility: GDS works best with local NVMe. On network/shared filesystems (Spectrum Scale, Lustre, GPFS), GDS is often unsupported or silently falls back to the CPU-bounce path anyway -- giving you worse performance than a well-optimized CPU path because of the fallback overhead.</a:t>
            </a:r>
          </a:p>
          <a:p>
            <a:r>
              <a:t>  - GPU utilization tradeoff: While GDS transfers data, the GPU's DMA engine is busy. For inference serving, every microsecond of GPU time matters. The CPU path lets the GPU keep doing inference while CPU and storage handle I/O in the background -- better end-to-end throughput.</a:t>
            </a:r>
          </a:p>
          <a:p>
            <a:r>
              <a:t>  - Portability: Different clouds, on-prem clusters, and edge deployments have different hardware. The CPU path works everywhere with zero special requirements -- just Linux + any filesystem.</a:t>
            </a:r>
          </a:p>
          <a:p>
            <a:endParaRPr/>
          </a:p>
          <a:p>
            <a:r>
              <a:t>- In practice, both paths will coexist. GDS for specific cases where hardware is available and latency is critical (e.g., local NVMe on a DGX). CPU path as the general-purpose layer that works across all deployments. Optimizing the CPU path has broad impact because it applies everywhere, not just on specific hardware configurations.</a:t>
            </a:r>
          </a:p>
          <a:p>
            <a:endParaRPr/>
          </a:p>
          <a:p>
            <a:r>
              <a:t>- Additional scenarios (mention if asked): long-context conversations (KV cache grows beyond GPU memory, offload older tokens), batch size scaling (many concurrent requests overflow to storage).</a:t>
            </a:r>
          </a:p>
          <a:p>
            <a:endParaRPr/>
          </a:p>
          <a:p>
            <a:r>
              <a:t>- In all scenarios, the read path (storage -&gt; CPU -&gt; GPU) is on the critical path -- it directly impacts latency the user sees. Write path can be async/backgrounded.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2: Benchmark Project</a:t>
            </a:r>
          </a:p>
          <a:p>
            <a:endParaRPr/>
          </a:p>
          <a:p>
            <a:r>
              <a:t>- Credit the other team's work -- solid foundation, well-structured benchmarks.</a:t>
            </a:r>
          </a:p>
          <a:p>
            <a:endParaRPr/>
          </a:p>
          <a:p>
            <a:r>
              <a:t>- Block size depends on model: LLaMA-70B ~52MB, LLaMA-13B ~13MB, quantized ~3-7MB. The tested range (2-64MB) covers realistic KV cache block sizes.</a:t>
            </a:r>
          </a:p>
          <a:p>
            <a:endParaRPr/>
          </a:p>
          <a:p>
            <a:r>
              <a:t>- Cache cleaning between phases: reads 100GB of unrelated data to evict written data from OS page cache. This ensures we measure true storage throughput, not cached reads. Critical for meaningful results.</a:t>
            </a:r>
          </a:p>
          <a:p>
            <a:endParaRPr/>
          </a:p>
          <a:p>
            <a:r>
              <a:t>- Atomic write pattern (temp file + rename): prevents partial/corrupt files if process crashes mid-write. All 4 backends implement this.</a:t>
            </a:r>
          </a:p>
          <a:p>
            <a:endParaRPr/>
          </a:p>
          <a:p>
            <a:r>
              <a:t>- The benchmark framework is reusable -- we'll add new backends and parameters to it for our optimization work.</a:t>
            </a:r>
          </a:p>
          <a:p>
            <a:endParaRPr/>
          </a:p>
          <a:p>
            <a:r>
              <a:t>- NIXL (NVIDIA Interconnect eXchange Library) -- an NVIDIA library designed for high-performance data transfers, primarily GPU-to-GPU and RDMA across nodes. It supports a POSIX file backend, which is what's tested here. The library uses explicit memory registration (pinning regions for DMA) and a descriptor-based transfer model. File I/O isn't its primary use case -- it's optimized for network/GPU transfers. The busy-polling completion model also wastes CPU cycles compared to blocking reads. We included it because it's being evaluated within the LLMD ecosystem for other transfer paths.</a:t>
            </a:r>
          </a:p>
          <a:p>
            <a:endParaRPr/>
          </a:p>
          <a:p>
            <a:r>
              <a:t>- aiofiles -- a pure Python async I/O library. Cross-platform, easy to use, but adds abstraction overhead on top of the OS. Included as a baseline to show the cost of high-level abstractions vs native implementations. Not expected to compete with C++ or even the Python self-implementation.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3: Current Results (baseline)</a:t>
            </a:r>
          </a:p>
          <a:p>
            <a:endParaRPr/>
          </a:p>
          <a:p>
            <a:r>
              <a:t>- tmpfs (/dev/shm) -- a filesystem that lives entirely in RAM, not on any physical storage device. Reads and writes go directly to/from memory, no disk involved. This gives us the theoretical upper bound for I/O throughput -- any real storage (NVMe, Spectrum Scale) will be slower. We benchmark on tmpfs first to measure software overhead in isolation, without storage hardware being the bottleneck. On real storage, the same software optimizations will have proportionally larger impact since there's more overhead to eliminate.</a:t>
            </a:r>
          </a:p>
          <a:p>
            <a:endParaRPr/>
          </a:p>
          <a:p>
            <a:r>
              <a:t>- Explain why C++ beats Python: GIL release during I/O, native thread pool vs Python's ThreadPoolExecutor overhead.</a:t>
            </a:r>
          </a:p>
          <a:p>
            <a:endParaRPr/>
          </a:p>
          <a:p>
            <a:r>
              <a:t>- NIXL underperforms here because file I/O isn't its primary use case -- it's optimized for GPU-to-GPU/RDMA transfers. See slide 2 notes for details.</a:t>
            </a:r>
          </a:p>
          <a:p>
            <a:endParaRPr/>
          </a:p>
          <a:p>
            <a:r>
              <a:t>- The plateau at 16-32MB suggests we're hitting syscall overhead and page cache copy limits, not device bandwidth -- room to improve.</a:t>
            </a:r>
          </a:p>
          <a:p>
            <a:endParaRPr/>
          </a:p>
          <a:p>
            <a:r>
              <a:t>- These are averages over 5 iterations with 100GB cache cleaning between write and read phases.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4: How Linux I/O Works &amp; Where We Can Improve</a:t>
            </a:r>
          </a:p>
          <a:p>
            <a:endParaRPr/>
          </a:p>
          <a:p>
            <a:r>
              <a:t>User Buffer -- your application's memory where the KV cache data lives. A pinned PyTorch tensor. "Pinned" means the OS will never swap it to disk -- it stays in physical RAM.</a:t>
            </a:r>
          </a:p>
          <a:p>
            <a:endParaRPr/>
          </a:p>
          <a:p>
            <a:r>
              <a:t>Syscall -- when your program calls pread(), it can't talk to the storage device directly. It asks the kernel via a "context switch" -- CPU saves program state, switches to kernel mode, does the work, switches back. Like going through a security checkpoint every time. ~1-2 microseconds each. x1000 blocks = 1-2ms pure overhead.</a:t>
            </a:r>
          </a:p>
          <a:p>
            <a:endParaRPr/>
          </a:p>
          <a:p>
            <a:r>
              <a:t>Page Cache -- the kernel reads into its own memory first (page cache), then copies to your buffer. Like a library photocopying every book you request. For our workload (write once, read once) we're paying for a copy we'll never reuse.</a:t>
            </a:r>
          </a:p>
          <a:p>
            <a:endParaRPr/>
          </a:p>
          <a:p>
            <a:r>
              <a:t>Block Layer -- the kernel's I/O scheduler. Merges adjacent requests, reorders for optimal patterns. Problem: doesn't know our access pattern unless we tell it.</a:t>
            </a:r>
          </a:p>
          <a:p>
            <a:endParaRPr/>
          </a:p>
          <a:p>
            <a:r>
              <a:t>Device Driver / Storage -- NVMe drives have internal queues (up to 64K commands). The faster we fill this queue, the more the drive parallelizes. pread + threads: one request at a time per thread. io_uring: flood the queue with hundreds at once.</a:t>
            </a:r>
          </a:p>
          <a:p>
            <a:endParaRPr/>
          </a:p>
          <a:p>
            <a:r>
              <a:t>io_uring explained -- replaces per-operation syscalls with two shared memory ring buffers: submission queue (SQ) where you drop requests, completion queue (CQ) where kernel drops results. Fill SQ with hundreds of reads, notify kernel once. With SQPOLL mode, a kernel thread watches SQ continuously -- zero syscalls. Used by ScyllaDB, TigerBeetle. Linux 5.1+ (2019), mature.</a:t>
            </a:r>
          </a:p>
          <a:p>
            <a:endParaRPr/>
          </a:p>
          <a:p>
            <a:r>
              <a:t>O_DIRECT explained -- data goes storage -&gt; your buffer directly, skipping page cache. Eliminates one full memcpy per block. Needs 4K-aligned buffers. Doesn't apply on tmpfs. Pure win for our read-once workload.</a:t>
            </a:r>
          </a:p>
          <a:p>
            <a:endParaRPr/>
          </a:p>
          <a:p>
            <a:r>
              <a:t>posix_fadvise explained -- one syscall hint after open(). SEQUENTIAL = aggressive readahead. WILLNEED = start prefetching now. Nearly free. Currently our code gives zero hints.</a:t>
            </a:r>
          </a:p>
          <a:p>
            <a:endParaRPr/>
          </a:p>
          <a:p>
            <a:r>
              <a:t>Why combined is the ceiling -- io_uring + O_DIRECT: no syscall overhead, no page cache copy, kernel optimally schedules. Only bottleneck left is the physical device.</a:t>
            </a:r>
          </a:p>
          <a:p>
            <a:endParaRPr/>
          </a:p>
          <a:p>
            <a:r>
              <a:t>Analogy: Current (pread): walk to security desk for each of 1000 boxes, each gets photocopied. io_uring + O_DIRECT: hand warehouse a list of all 1000 boxes, delivered directly to your truck. One trip, no copies.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5: Optimization Approaches</a:t>
            </a:r>
          </a:p>
          <a:p>
            <a:endParaRPr/>
          </a:p>
          <a:p>
            <a:r>
              <a:t>Section A -- parameter explanations:</a:t>
            </a:r>
          </a:p>
          <a:p>
            <a:endParaRPr/>
          </a:p>
          <a:p>
            <a:r>
              <a:t>O_NOATIME -- every time Linux opens a file for reading, it updates the file's "last accessed" timestamp in filesystem metadata. A small write for every read -- useless for us. O_NOATIME skips this. One character in the open() call, zero downside.</a:t>
            </a:r>
          </a:p>
          <a:p>
            <a:endParaRPr/>
          </a:p>
          <a:p>
            <a:r>
              <a:t>posix_fadvise -- tell the kernel how we plan to read. SEQUENTIAL = aggressive readahead. WILLNEED = "start loading now." Currently our code gives zero hints -- the kernel is guessing.</a:t>
            </a:r>
          </a:p>
          <a:p>
            <a:endParaRPr/>
          </a:p>
          <a:p>
            <a:r>
              <a:t>I/O chunk size -- current code calls pread(fd, buffer, 50MB, offset). But different storage systems have different optimal transfer sizes. A GPFS filesystem with 4MB block size may prefer 4MB-aligned reads. Tunable chunk size lets us find the sweet spot.</a:t>
            </a:r>
          </a:p>
          <a:p>
            <a:endParaRPr/>
          </a:p>
          <a:p>
            <a:r>
              <a:t>Prefetch depth -- while reading block N, call fadvise(WILLNEED) on blocks N+1..N+K. Kernel starts loading them before we ask. K depends on storage speed vs processing speed.</a:t>
            </a:r>
          </a:p>
          <a:p>
            <a:endParaRPr/>
          </a:p>
          <a:p>
            <a:r>
              <a:t>Thread count range -- hardcoded [16, 32, 64]. Optimal depends on storage. NVMe might peak at 32, Spectrum Scale (striped across servers) might need 128-256. Slow device: 8 might beat 64.</a:t>
            </a:r>
          </a:p>
          <a:p>
            <a:endParaRPr/>
          </a:p>
          <a:p>
            <a:r>
              <a:t>Section B -- new mechanisms:</a:t>
            </a:r>
          </a:p>
          <a:p>
            <a:endParaRPr/>
          </a:p>
          <a:p>
            <a:r>
              <a:t>io_uring is what high-performance databases use (ScyllaDB, TigerBeetle). New backend but reuses existing benchmark framework. Also introduces its own tunable parameters (queue depth, SQPOLL, IOPOLL, registered buffers/files) -- roughly doubling our parameter space.</a:t>
            </a:r>
          </a:p>
          <a:p>
            <a:endParaRPr/>
          </a:p>
          <a:p>
            <a:r>
              <a:t>O_DIRECT caveat: needs 4K-aligned buffers, doesn't work on tmpfs. Must test on actual target storage.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6: Auto-Tuning &amp; Roadmap</a:t>
            </a:r>
          </a:p>
          <a:p>
            <a:endParaRPr/>
          </a:p>
          <a:p>
            <a:r>
              <a:t>- Key insight: we don't need to understand every hardware detail. Build the parameter space, let the search find what works.</a:t>
            </a:r>
          </a:p>
          <a:p>
            <a:endParaRPr/>
          </a:p>
          <a:p>
            <a:r>
              <a:t>- Example of non-obvious interaction: O_DIRECT might help at 64 threads but hurt at 16. Or chunk size 1MB wins with SEQUENTIAL hint but 4MB wins with WILLNEED. You'd never find this manually.</a:t>
            </a:r>
          </a:p>
          <a:p>
            <a:endParaRPr/>
          </a:p>
          <a:p>
            <a:r>
              <a:t>- Bayesian optimization: finds best parameter values when each evaluation is expensive (like a benchmark run). After each trial, builds a statistical model ("surrogate") predicting which combinations look promising. Picks the most informative next trial -- balancing exploration vs exploitation. Much more efficient than grid/random search. Optuna is a popular Python library implementing this. You define parameter ranges + a function that returns throughput. Optuna handles the rest -- choosing what to try, tracking results, visualizing which parameters matter most.</a:t>
            </a:r>
          </a:p>
          <a:p>
            <a:endParaRPr/>
          </a:p>
          <a:p>
            <a:r>
              <a:t>- Evolutionary search (OpenEvolve) -- why code evolution, not just parameter tuning? Because some optimizations aren't expressible as numbers. Should each thread read one file or multiple files sequentially? Sort blocks by location or keep original order? Serialize file creation, pipeline in batches, or interleave with writes? These are branching code paths, not slider values. Bayesian can't explore them. Evolutionary search generates structurally different implementations, combines successful patterns, discovers strategies we wouldn't try manually. The current C++ backend is hand-optimized and good -- code evolution is how we break past incremental tuning ceilings.</a:t>
            </a:r>
          </a:p>
          <a:p>
            <a:endParaRPr/>
          </a:p>
          <a:p>
            <a:r>
              <a:t>- Roadmap: step 1 is low effort, enables all later work. Step 2 is core engineering. Step 3 makes it production-ready for any hardware. Step 4 is research/exploration.</a:t>
            </a:r>
          </a:p>
          <a:p>
            <a:endParaRPr/>
          </a:p>
          <a:p>
            <a:r>
              <a:t>- End with: "build once, auto-tune everywhere" -- same framework works whether target is local NVMe, Spectrum Scale, or future storage.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8046720" cy="594360"/>
          </a:xfrm>
          <a:prstGeom prst="rect">
            <a:avLst/>
          </a:prstGeom>
          <a:noFill/>
        </p:spPr>
        <p:txBody>
          <a:bodyPr wrap="square">
            <a:spAutoFit/>
          </a:bodyPr>
          <a:lstStyle/>
          <a:p>
            <a:pPr algn="l"/>
            <a:r>
              <a:rPr sz="2400" b="1">
                <a:solidFill>
                  <a:srgbClr val="4FC3F7"/>
                </a:solidFill>
              </a:rPr>
              <a:t>Why Offload KV Cache to Storage?</a:t>
            </a:r>
          </a:p>
          <a:p>
            <a:pPr algn="l">
              <a:spcBef>
                <a:spcPts val="600"/>
              </a:spcBef>
              <a:spcAft>
                <a:spcPts val="100"/>
              </a:spcAft>
            </a:pPr>
            <a:r>
              <a:rPr sz="1200" b="0">
                <a:solidFill>
                  <a:srgbClr val="BBBBBB"/>
                </a:solidFill>
              </a:rPr>
              <a:t>Optimizing the CPU ↔ Storage leg for LLMD</a:t>
            </a:r>
          </a:p>
        </p:txBody>
      </p:sp>
      <p:sp>
        <p:nvSpPr>
          <p:cNvPr id="3" name="Rounded Rectangle 2"/>
          <p:cNvSpPr/>
          <p:nvPr/>
        </p:nvSpPr>
        <p:spPr>
          <a:xfrm>
            <a:off x="548640" y="960120"/>
            <a:ext cx="2377440" cy="640080"/>
          </a:xfrm>
          <a:prstGeom prst="roundRect">
            <a:avLst/>
          </a:prstGeom>
          <a:solidFill>
            <a:srgbClr val="2A2A45"/>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wrap="square" tIns="50800" bIns="25400" rtlCol="0" anchor="ctr"/>
          <a:lstStyle/>
          <a:p>
            <a:pPr algn="ctr"/>
            <a:r>
              <a:rPr sz="1100" b="1">
                <a:solidFill>
                  <a:srgbClr val="4FC3F7"/>
                </a:solidFill>
              </a:rPr>
              <a:t>GPU memory</a:t>
            </a:r>
          </a:p>
          <a:p>
            <a:pPr algn="ctr"/>
            <a:r>
              <a:rPr sz="800">
                <a:solidFill>
                  <a:srgbClr val="BBBBBB"/>
                </a:solidFill>
              </a:rPr>
              <a:t>fastest, smallest</a:t>
            </a:r>
          </a:p>
        </p:txBody>
      </p:sp>
      <p:sp>
        <p:nvSpPr>
          <p:cNvPr id="4" name="TextBox 3"/>
          <p:cNvSpPr txBox="1"/>
          <p:nvPr/>
        </p:nvSpPr>
        <p:spPr>
          <a:xfrm>
            <a:off x="2926080" y="1191260"/>
            <a:ext cx="274320" cy="228600"/>
          </a:xfrm>
          <a:prstGeom prst="rect">
            <a:avLst/>
          </a:prstGeom>
          <a:noFill/>
        </p:spPr>
        <p:txBody>
          <a:bodyPr wrap="none">
            <a:spAutoFit/>
          </a:bodyPr>
          <a:lstStyle/>
          <a:p>
            <a:pPr algn="ctr"/>
            <a:r>
              <a:rPr sz="1600">
                <a:solidFill>
                  <a:srgbClr val="BBBBBB"/>
                </a:solidFill>
              </a:rPr>
              <a:t>→</a:t>
            </a:r>
          </a:p>
        </p:txBody>
      </p:sp>
      <p:sp>
        <p:nvSpPr>
          <p:cNvPr id="5" name="Rounded Rectangle 4"/>
          <p:cNvSpPr/>
          <p:nvPr/>
        </p:nvSpPr>
        <p:spPr>
          <a:xfrm>
            <a:off x="3200400" y="960120"/>
            <a:ext cx="2377440" cy="640080"/>
          </a:xfrm>
          <a:prstGeom prst="roundRect">
            <a:avLst/>
          </a:prstGeom>
          <a:solidFill>
            <a:srgbClr val="2A2A45"/>
          </a:solidFill>
          <a:ln w="19050">
            <a:solidFill>
              <a:srgbClr val="66BB6A"/>
            </a:solidFill>
          </a:ln>
        </p:spPr>
        <p:style>
          <a:lnRef idx="1">
            <a:schemeClr val="accent1"/>
          </a:lnRef>
          <a:fillRef idx="3">
            <a:schemeClr val="accent1"/>
          </a:fillRef>
          <a:effectRef idx="2">
            <a:schemeClr val="accent1"/>
          </a:effectRef>
          <a:fontRef idx="minor">
            <a:schemeClr val="lt1"/>
          </a:fontRef>
        </p:style>
        <p:txBody>
          <a:bodyPr wrap="square" tIns="50800" bIns="25400" rtlCol="0" anchor="ctr"/>
          <a:lstStyle/>
          <a:p>
            <a:pPr algn="ctr"/>
            <a:r>
              <a:rPr sz="1100" b="1">
                <a:solidFill>
                  <a:srgbClr val="66BB6A"/>
                </a:solidFill>
              </a:rPr>
              <a:t>CPU memory</a:t>
            </a:r>
          </a:p>
          <a:p>
            <a:pPr algn="ctr"/>
            <a:r>
              <a:rPr sz="800">
                <a:solidFill>
                  <a:srgbClr val="BBBBBB"/>
                </a:solidFill>
              </a:rPr>
              <a:t>fast, larger</a:t>
            </a:r>
          </a:p>
        </p:txBody>
      </p:sp>
      <p:sp>
        <p:nvSpPr>
          <p:cNvPr id="6" name="TextBox 5"/>
          <p:cNvSpPr txBox="1"/>
          <p:nvPr/>
        </p:nvSpPr>
        <p:spPr>
          <a:xfrm>
            <a:off x="5577840" y="1191260"/>
            <a:ext cx="274320" cy="228600"/>
          </a:xfrm>
          <a:prstGeom prst="rect">
            <a:avLst/>
          </a:prstGeom>
          <a:noFill/>
        </p:spPr>
        <p:txBody>
          <a:bodyPr wrap="none">
            <a:spAutoFit/>
          </a:bodyPr>
          <a:lstStyle/>
          <a:p>
            <a:pPr algn="ctr"/>
            <a:r>
              <a:rPr sz="1600">
                <a:solidFill>
                  <a:srgbClr val="BBBBBB"/>
                </a:solidFill>
              </a:rPr>
              <a:t>→</a:t>
            </a:r>
          </a:p>
        </p:txBody>
      </p:sp>
      <p:sp>
        <p:nvSpPr>
          <p:cNvPr id="7" name="Rounded Rectangle 6"/>
          <p:cNvSpPr/>
          <p:nvPr/>
        </p:nvSpPr>
        <p:spPr>
          <a:xfrm>
            <a:off x="5852160" y="960120"/>
            <a:ext cx="2377440" cy="640080"/>
          </a:xfrm>
          <a:prstGeom prst="roundRect">
            <a:avLst/>
          </a:prstGeom>
          <a:solidFill>
            <a:srgbClr val="2A2A45"/>
          </a:solidFill>
          <a:ln w="19050">
            <a:solidFill>
              <a:srgbClr val="FFA726"/>
            </a:solidFill>
          </a:ln>
        </p:spPr>
        <p:style>
          <a:lnRef idx="1">
            <a:schemeClr val="accent1"/>
          </a:lnRef>
          <a:fillRef idx="3">
            <a:schemeClr val="accent1"/>
          </a:fillRef>
          <a:effectRef idx="2">
            <a:schemeClr val="accent1"/>
          </a:effectRef>
          <a:fontRef idx="minor">
            <a:schemeClr val="lt1"/>
          </a:fontRef>
        </p:style>
        <p:txBody>
          <a:bodyPr wrap="square" tIns="50800" bIns="25400" rtlCol="0" anchor="ctr"/>
          <a:lstStyle/>
          <a:p>
            <a:pPr algn="ctr"/>
            <a:r>
              <a:rPr sz="1100" b="1">
                <a:solidFill>
                  <a:srgbClr val="FFA726"/>
                </a:solidFill>
              </a:rPr>
              <a:t>Storage</a:t>
            </a:r>
          </a:p>
          <a:p>
            <a:pPr algn="ctr"/>
            <a:r>
              <a:rPr sz="800">
                <a:solidFill>
                  <a:srgbClr val="BBBBBB"/>
                </a:solidFill>
              </a:rPr>
              <a:t>largest, persistent</a:t>
            </a:r>
          </a:p>
        </p:txBody>
      </p:sp>
      <p:sp>
        <p:nvSpPr>
          <p:cNvPr id="8" name="TextBox 7"/>
          <p:cNvSpPr txBox="1"/>
          <p:nvPr/>
        </p:nvSpPr>
        <p:spPr>
          <a:xfrm>
            <a:off x="548640" y="1645920"/>
            <a:ext cx="8046720" cy="320040"/>
          </a:xfrm>
          <a:prstGeom prst="rect">
            <a:avLst/>
          </a:prstGeom>
          <a:noFill/>
        </p:spPr>
        <p:txBody>
          <a:bodyPr wrap="square">
            <a:spAutoFit/>
          </a:bodyPr>
          <a:lstStyle/>
          <a:p>
            <a:pPr algn="ctr"/>
            <a:r>
              <a:rPr sz="1000" b="0">
                <a:solidFill>
                  <a:srgbClr val="BBBBBB"/>
                </a:solidFill>
              </a:rPr>
              <a:t>GPU → CPU: already in LLMD          CPU ↔ Storage: what we’re optimizing</a:t>
            </a:r>
          </a:p>
        </p:txBody>
      </p:sp>
      <p:sp>
        <p:nvSpPr>
          <p:cNvPr id="9" name="TextBox 8"/>
          <p:cNvSpPr txBox="1"/>
          <p:nvPr/>
        </p:nvSpPr>
        <p:spPr>
          <a:xfrm>
            <a:off x="548640" y="2011680"/>
            <a:ext cx="4206240" cy="2743200"/>
          </a:xfrm>
          <a:prstGeom prst="rect">
            <a:avLst/>
          </a:prstGeom>
          <a:noFill/>
        </p:spPr>
        <p:txBody>
          <a:bodyPr wrap="square">
            <a:spAutoFit/>
          </a:bodyPr>
          <a:lstStyle/>
          <a:p>
            <a:pPr algn="l"/>
            <a:r>
              <a:rPr sz="1200" b="1">
                <a:solidFill>
                  <a:srgbClr val="FFA726"/>
                </a:solidFill>
              </a:rPr>
              <a:t>GPU → Storage directly (GDS) — preferred, but often unavailable:</a:t>
            </a:r>
          </a:p>
          <a:p>
            <a:pPr algn="l">
              <a:spcBef>
                <a:spcPts val="400"/>
              </a:spcBef>
              <a:spcAft>
                <a:spcPts val="100"/>
              </a:spcAft>
            </a:pPr>
            <a:r>
              <a:rPr sz="1000" b="0">
                <a:solidFill>
                  <a:srgbClr val="66BB6A"/>
                </a:solidFill>
              </a:rPr>
              <a:t>GDS is the fastest path — bypasses CPU entirely via DMA/RDMA</a:t>
            </a:r>
          </a:p>
          <a:p>
            <a:pPr algn="l">
              <a:spcBef>
                <a:spcPts val="400"/>
              </a:spcBef>
              <a:spcAft>
                <a:spcPts val="100"/>
              </a:spcAft>
            </a:pPr>
            <a:r>
              <a:rPr sz="1000" b="0">
                <a:solidFill>
                  <a:srgbClr val="FFFFFF"/>
                </a:solidFill>
              </a:rPr>
              <a:t>But: requires specific NVIDIA hardware + NIC + storage drivers</a:t>
            </a:r>
          </a:p>
          <a:p>
            <a:pPr algn="l">
              <a:spcBef>
                <a:spcPts val="400"/>
              </a:spcBef>
              <a:spcAft>
                <a:spcPts val="100"/>
              </a:spcAft>
            </a:pPr>
            <a:r>
              <a:rPr sz="1000" b="0">
                <a:solidFill>
                  <a:srgbClr val="FFFFFF"/>
                </a:solidFill>
              </a:rPr>
              <a:t>Works best with local NVMe; on shared FS often unsupported or falls back to CPU</a:t>
            </a:r>
          </a:p>
          <a:p>
            <a:pPr algn="l">
              <a:spcBef>
                <a:spcPts val="400"/>
              </a:spcBef>
              <a:spcAft>
                <a:spcPts val="100"/>
              </a:spcAft>
            </a:pPr>
            <a:r>
              <a:rPr sz="1000" b="0">
                <a:solidFill>
                  <a:srgbClr val="FFFFFF"/>
                </a:solidFill>
              </a:rPr>
              <a:t>Ties up GPU during transfer — can’t do inference while doing I/O</a:t>
            </a:r>
          </a:p>
          <a:p>
            <a:pPr algn="l">
              <a:spcBef>
                <a:spcPts val="400"/>
              </a:spcBef>
              <a:spcAft>
                <a:spcPts val="100"/>
              </a:spcAft>
            </a:pPr>
            <a:r>
              <a:rPr sz="1000" b="0">
                <a:solidFill>
                  <a:srgbClr val="FFFFFF"/>
                </a:solidFill>
              </a:rPr>
              <a:t>Not available in all environments (cloud, heterogeneous clusters)</a:t>
            </a:r>
          </a:p>
          <a:p>
            <a:pPr algn="l">
              <a:spcBef>
                <a:spcPts val="800"/>
              </a:spcBef>
              <a:spcAft>
                <a:spcPts val="100"/>
              </a:spcAft>
            </a:pPr>
            <a:r>
              <a:rPr sz="1100" b="1">
                <a:solidFill>
                  <a:srgbClr val="4FC3F7"/>
                </a:solidFill>
              </a:rPr>
              <a:t>When GDS isn’t available → the CPU path is the fallback:</a:t>
            </a:r>
          </a:p>
          <a:p>
            <a:pPr algn="l">
              <a:spcBef>
                <a:spcPts val="400"/>
              </a:spcBef>
              <a:spcAft>
                <a:spcPts val="100"/>
              </a:spcAft>
            </a:pPr>
            <a:r>
              <a:rPr sz="1000" b="0">
                <a:solidFill>
                  <a:srgbClr val="FFFFFF"/>
                </a:solidFill>
              </a:rPr>
              <a:t>Works with any storage, any hardware, any deployment</a:t>
            </a:r>
          </a:p>
          <a:p>
            <a:pPr algn="l">
              <a:spcBef>
                <a:spcPts val="400"/>
              </a:spcBef>
              <a:spcAft>
                <a:spcPts val="100"/>
              </a:spcAft>
            </a:pPr>
            <a:r>
              <a:rPr sz="1000" b="0">
                <a:solidFill>
                  <a:srgbClr val="FFFFFF"/>
                </a:solidFill>
              </a:rPr>
              <a:t>GPU stays free for inference while CPU handles I/O</a:t>
            </a:r>
          </a:p>
        </p:txBody>
      </p:sp>
      <p:sp>
        <p:nvSpPr>
          <p:cNvPr id="10" name="TextBox 9"/>
          <p:cNvSpPr txBox="1"/>
          <p:nvPr/>
        </p:nvSpPr>
        <p:spPr>
          <a:xfrm>
            <a:off x="4754880" y="2011680"/>
            <a:ext cx="3840480" cy="2743200"/>
          </a:xfrm>
          <a:prstGeom prst="rect">
            <a:avLst/>
          </a:prstGeom>
          <a:noFill/>
        </p:spPr>
        <p:txBody>
          <a:bodyPr wrap="square">
            <a:spAutoFit/>
          </a:bodyPr>
          <a:lstStyle/>
          <a:p>
            <a:pPr algn="l"/>
            <a:r>
              <a:rPr sz="1300" b="1">
                <a:solidFill>
                  <a:srgbClr val="66BB6A"/>
                </a:solidFill>
              </a:rPr>
              <a:t>Key scenarios:</a:t>
            </a:r>
          </a:p>
          <a:p>
            <a:pPr algn="l">
              <a:spcBef>
                <a:spcPts val="400"/>
              </a:spcBef>
              <a:spcAft>
                <a:spcPts val="100"/>
              </a:spcAft>
            </a:pPr>
            <a:r>
              <a:rPr sz="1100" b="0">
                <a:solidFill>
                  <a:srgbClr val="FFFFFF"/>
                </a:solidFill>
              </a:rPr>
              <a:t>1. New decode instance — load from storage, skip recalculation</a:t>
            </a:r>
          </a:p>
          <a:p>
            <a:pPr algn="l">
              <a:spcBef>
                <a:spcPts val="400"/>
              </a:spcBef>
              <a:spcAft>
                <a:spcPts val="100"/>
              </a:spcAft>
            </a:pPr>
            <a:r>
              <a:rPr sz="1100" b="0">
                <a:solidFill>
                  <a:srgbClr val="FFFFFF"/>
                </a:solidFill>
              </a:rPr>
              <a:t>2. Cache evicted from GPUs — persist to storage, reload later</a:t>
            </a:r>
          </a:p>
          <a:p>
            <a:pPr algn="l">
              <a:spcBef>
                <a:spcPts val="400"/>
              </a:spcBef>
              <a:spcAft>
                <a:spcPts val="100"/>
              </a:spcAft>
            </a:pPr>
            <a:r>
              <a:rPr sz="1100" b="0">
                <a:solidFill>
                  <a:srgbClr val="FFFFFF"/>
                </a:solidFill>
              </a:rPr>
              <a:t>3. Preemption / migration — persist cache, resume on another GPU</a:t>
            </a:r>
          </a:p>
          <a:p>
            <a:pPr algn="l">
              <a:spcBef>
                <a:spcPts val="1000"/>
              </a:spcBef>
              <a:spcAft>
                <a:spcPts val="100"/>
              </a:spcAft>
            </a:pPr>
            <a:r>
              <a:rPr sz="1000" b="1">
                <a:solidFill>
                  <a:srgbClr val="FFA726"/>
                </a:solidFill>
              </a:rPr>
              <a:t>Read path (storage → CPU) is latency-critical</a:t>
            </a:r>
          </a:p>
          <a:p>
            <a:pPr algn="l">
              <a:spcBef>
                <a:spcPts val="400"/>
              </a:spcBef>
              <a:spcAft>
                <a:spcPts val="100"/>
              </a:spcAft>
            </a:pPr>
            <a:r>
              <a:rPr sz="1000" b="0">
                <a:solidFill>
                  <a:srgbClr val="BBBBBB"/>
                </a:solidFill>
              </a:rPr>
              <a:t>Write path can be backgrounded during inference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8046720" cy="594360"/>
          </a:xfrm>
          <a:prstGeom prst="rect">
            <a:avLst/>
          </a:prstGeom>
          <a:noFill/>
        </p:spPr>
        <p:txBody>
          <a:bodyPr wrap="square">
            <a:spAutoFit/>
          </a:bodyPr>
          <a:lstStyle/>
          <a:p>
            <a:pPr algn="l"/>
            <a:r>
              <a:rPr sz="2400" b="1">
                <a:solidFill>
                  <a:srgbClr val="4FC3F7"/>
                </a:solidFill>
              </a:rPr>
              <a:t>Benchmark Project</a:t>
            </a:r>
          </a:p>
        </p:txBody>
      </p:sp>
      <p:sp>
        <p:nvSpPr>
          <p:cNvPr id="3" name="TextBox 2"/>
          <p:cNvSpPr txBox="1"/>
          <p:nvPr/>
        </p:nvSpPr>
        <p:spPr>
          <a:xfrm>
            <a:off x="548640" y="868680"/>
            <a:ext cx="8046720" cy="3403496"/>
          </a:xfrm>
          <a:prstGeom prst="rect">
            <a:avLst/>
          </a:prstGeom>
          <a:noFill/>
        </p:spPr>
        <p:txBody>
          <a:bodyPr wrap="square">
            <a:spAutoFit/>
          </a:bodyPr>
          <a:lstStyle/>
          <a:p>
            <a:r>
              <a:rPr sz="1300" b="0" dirty="0">
                <a:solidFill>
                  <a:srgbClr val="BBBBBB"/>
                </a:solidFill>
              </a:rPr>
              <a:t>Framework </a:t>
            </a:r>
            <a:r>
              <a:rPr sz="1300" dirty="0">
                <a:solidFill>
                  <a:srgbClr val="BBBBBB"/>
                </a:solidFill>
              </a:rPr>
              <a:t>by </a:t>
            </a:r>
            <a:r>
              <a:rPr lang="en-US" sz="1300" b="1" dirty="0">
                <a:solidFill>
                  <a:srgbClr val="66BB6A"/>
                </a:solidFill>
              </a:rPr>
              <a:t>https://github.com/rshavitt/cpu_to_storage/  (by </a:t>
            </a:r>
            <a:r>
              <a:rPr lang="en-US" sz="1300" b="1" dirty="0" err="1">
                <a:solidFill>
                  <a:srgbClr val="66BB6A"/>
                </a:solidFill>
              </a:rPr>
              <a:t>llmd</a:t>
            </a:r>
            <a:r>
              <a:rPr lang="en-US" sz="1300" b="1" dirty="0">
                <a:solidFill>
                  <a:srgbClr val="66BB6A"/>
                </a:solidFill>
              </a:rPr>
              <a:t> team) </a:t>
            </a:r>
            <a:r>
              <a:rPr sz="1300" b="1" dirty="0">
                <a:solidFill>
                  <a:srgbClr val="66BB6A"/>
                </a:solidFill>
              </a:rPr>
              <a:t> </a:t>
            </a:r>
            <a:r>
              <a:rPr sz="1300" b="0" dirty="0">
                <a:solidFill>
                  <a:srgbClr val="BBBBBB"/>
                </a:solidFill>
              </a:rPr>
              <a:t>for evaluating I/O strategies</a:t>
            </a:r>
          </a:p>
          <a:p>
            <a:pPr algn="l">
              <a:spcBef>
                <a:spcPts val="1000"/>
              </a:spcBef>
              <a:spcAft>
                <a:spcPts val="100"/>
              </a:spcAft>
            </a:pPr>
            <a:r>
              <a:rPr sz="1300" b="1" dirty="0">
                <a:solidFill>
                  <a:srgbClr val="66BB6A"/>
                </a:solidFill>
              </a:rPr>
              <a:t>4 backends tested:</a:t>
            </a:r>
          </a:p>
          <a:p>
            <a:pPr algn="l">
              <a:spcBef>
                <a:spcPts val="400"/>
              </a:spcBef>
              <a:spcAft>
                <a:spcPts val="100"/>
              </a:spcAft>
            </a:pPr>
            <a:r>
              <a:rPr sz="1100" b="0" dirty="0">
                <a:solidFill>
                  <a:srgbClr val="FFFFFF"/>
                </a:solidFill>
              </a:rPr>
              <a:t>C++ — </a:t>
            </a:r>
            <a:r>
              <a:rPr sz="1100" b="0" dirty="0" err="1">
                <a:solidFill>
                  <a:srgbClr val="FFFFFF"/>
                </a:solidFill>
              </a:rPr>
              <a:t>pread</a:t>
            </a:r>
            <a:r>
              <a:rPr sz="1100" b="0" dirty="0">
                <a:solidFill>
                  <a:srgbClr val="FFFFFF"/>
                </a:solidFill>
              </a:rPr>
              <a:t>/</a:t>
            </a:r>
            <a:r>
              <a:rPr sz="1100" b="0" dirty="0" err="1">
                <a:solidFill>
                  <a:srgbClr val="FFFFFF"/>
                </a:solidFill>
              </a:rPr>
              <a:t>pwrite</a:t>
            </a:r>
            <a:r>
              <a:rPr sz="1100" b="0" dirty="0">
                <a:solidFill>
                  <a:srgbClr val="FFFFFF"/>
                </a:solidFill>
              </a:rPr>
              <a:t> + custom thread pool, GIL released, serialized file creation</a:t>
            </a:r>
          </a:p>
          <a:p>
            <a:pPr algn="l">
              <a:spcBef>
                <a:spcPts val="400"/>
              </a:spcBef>
              <a:spcAft>
                <a:spcPts val="100"/>
              </a:spcAft>
            </a:pPr>
            <a:r>
              <a:rPr sz="1100" b="0" dirty="0">
                <a:solidFill>
                  <a:srgbClr val="FFFFFF"/>
                </a:solidFill>
              </a:rPr>
              <a:t>Python self — </a:t>
            </a:r>
            <a:r>
              <a:rPr sz="1100" b="0" dirty="0" err="1">
                <a:solidFill>
                  <a:srgbClr val="FFFFFF"/>
                </a:solidFill>
              </a:rPr>
              <a:t>asyncio</a:t>
            </a:r>
            <a:r>
              <a:rPr sz="1100" b="0" dirty="0">
                <a:solidFill>
                  <a:srgbClr val="FFFFFF"/>
                </a:solidFill>
              </a:rPr>
              <a:t> + </a:t>
            </a:r>
            <a:r>
              <a:rPr sz="1100" b="0" dirty="0" err="1">
                <a:solidFill>
                  <a:srgbClr val="FFFFFF"/>
                </a:solidFill>
              </a:rPr>
              <a:t>ThreadPoolExecutor</a:t>
            </a:r>
            <a:r>
              <a:rPr sz="1100" b="0" dirty="0">
                <a:solidFill>
                  <a:srgbClr val="FFFFFF"/>
                </a:solidFill>
              </a:rPr>
              <a:t> + </a:t>
            </a:r>
            <a:r>
              <a:rPr sz="1100" b="0" dirty="0" err="1">
                <a:solidFill>
                  <a:srgbClr val="FFFFFF"/>
                </a:solidFill>
              </a:rPr>
              <a:t>os.readv</a:t>
            </a:r>
            <a:r>
              <a:rPr sz="1100" b="0" dirty="0">
                <a:solidFill>
                  <a:srgbClr val="FFFFFF"/>
                </a:solidFill>
              </a:rPr>
              <a:t>/write</a:t>
            </a:r>
          </a:p>
          <a:p>
            <a:pPr algn="l">
              <a:spcBef>
                <a:spcPts val="400"/>
              </a:spcBef>
              <a:spcAft>
                <a:spcPts val="100"/>
              </a:spcAft>
            </a:pPr>
            <a:r>
              <a:rPr sz="1100" b="0" dirty="0" err="1">
                <a:solidFill>
                  <a:srgbClr val="FFFFFF"/>
                </a:solidFill>
              </a:rPr>
              <a:t>aiofiles</a:t>
            </a:r>
            <a:r>
              <a:rPr sz="1100" b="0" dirty="0">
                <a:solidFill>
                  <a:srgbClr val="FFFFFF"/>
                </a:solidFill>
              </a:rPr>
              <a:t> — pure Python async I/O library (cross-platform baseline)</a:t>
            </a:r>
          </a:p>
          <a:p>
            <a:pPr algn="l">
              <a:spcBef>
                <a:spcPts val="400"/>
              </a:spcBef>
              <a:spcAft>
                <a:spcPts val="100"/>
              </a:spcAft>
            </a:pPr>
            <a:r>
              <a:rPr sz="1100" b="0" dirty="0">
                <a:solidFill>
                  <a:srgbClr val="FFFFFF"/>
                </a:solidFill>
              </a:rPr>
              <a:t>NIXL — NVIDIA library with POSIX backend, memory registration, descriptor-based transfers</a:t>
            </a:r>
          </a:p>
          <a:p>
            <a:pPr algn="l">
              <a:spcBef>
                <a:spcPts val="1000"/>
              </a:spcBef>
              <a:spcAft>
                <a:spcPts val="100"/>
              </a:spcAft>
            </a:pPr>
            <a:r>
              <a:rPr sz="1300" b="1" dirty="0">
                <a:solidFill>
                  <a:srgbClr val="66BB6A"/>
                </a:solidFill>
              </a:rPr>
              <a:t>Test matrix:</a:t>
            </a:r>
          </a:p>
          <a:p>
            <a:pPr algn="l">
              <a:spcBef>
                <a:spcPts val="400"/>
              </a:spcBef>
              <a:spcAft>
                <a:spcPts val="100"/>
              </a:spcAft>
            </a:pPr>
            <a:r>
              <a:rPr sz="1100" b="0" dirty="0">
                <a:solidFill>
                  <a:srgbClr val="FFFFFF"/>
                </a:solidFill>
              </a:rPr>
              <a:t>Block sizes: 2, 4, 8, 16, 32, 64 MB (KV cache blocks are ~5-50MB depending on model)</a:t>
            </a:r>
          </a:p>
          <a:p>
            <a:pPr algn="l">
              <a:spcBef>
                <a:spcPts val="400"/>
              </a:spcBef>
              <a:spcAft>
                <a:spcPts val="100"/>
              </a:spcAft>
            </a:pPr>
            <a:r>
              <a:rPr sz="1100" b="0" dirty="0">
                <a:solidFill>
                  <a:srgbClr val="FFFFFF"/>
                </a:solidFill>
              </a:rPr>
              <a:t>Thread counts: 16, 32, 64</a:t>
            </a:r>
          </a:p>
          <a:p>
            <a:pPr algn="l">
              <a:spcBef>
                <a:spcPts val="400"/>
              </a:spcBef>
              <a:spcAft>
                <a:spcPts val="100"/>
              </a:spcAft>
            </a:pPr>
            <a:r>
              <a:rPr sz="1100" b="0" dirty="0">
                <a:solidFill>
                  <a:srgbClr val="FFFFFF"/>
                </a:solidFill>
              </a:rPr>
              <a:t>Modes: sequential write/read, fixed total data (100GB), concurrent </a:t>
            </a:r>
            <a:r>
              <a:rPr sz="1100" b="0" dirty="0" err="1">
                <a:solidFill>
                  <a:srgbClr val="FFFFFF"/>
                </a:solidFill>
              </a:rPr>
              <a:t>read+write</a:t>
            </a:r>
            <a:endParaRPr sz="1100" b="0" dirty="0">
              <a:solidFill>
                <a:srgbClr val="FFFFFF"/>
              </a:solidFill>
            </a:endParaRPr>
          </a:p>
          <a:p>
            <a:pPr algn="l">
              <a:spcBef>
                <a:spcPts val="1000"/>
              </a:spcBef>
              <a:spcAft>
                <a:spcPts val="100"/>
              </a:spcAft>
            </a:pPr>
            <a:r>
              <a:rPr sz="1300" b="1" dirty="0">
                <a:solidFill>
                  <a:srgbClr val="66BB6A"/>
                </a:solidFill>
              </a:rPr>
              <a:t>Environment:</a:t>
            </a:r>
          </a:p>
          <a:p>
            <a:pPr algn="l">
              <a:spcBef>
                <a:spcPts val="400"/>
              </a:spcBef>
              <a:spcAft>
                <a:spcPts val="100"/>
              </a:spcAft>
            </a:pPr>
            <a:r>
              <a:rPr sz="1100" b="0" dirty="0">
                <a:solidFill>
                  <a:srgbClr val="FFFFFF"/>
                </a:solidFill>
              </a:rPr>
              <a:t>K8s pods, 450Gi RAM, /dev/</a:t>
            </a:r>
            <a:r>
              <a:rPr sz="1100" b="0" dirty="0" err="1">
                <a:solidFill>
                  <a:srgbClr val="FFFFFF"/>
                </a:solidFill>
              </a:rPr>
              <a:t>shm</a:t>
            </a:r>
            <a:r>
              <a:rPr sz="1100" b="0" dirty="0">
                <a:solidFill>
                  <a:srgbClr val="FFFFFF"/>
                </a:solidFill>
              </a:rPr>
              <a:t> (</a:t>
            </a:r>
            <a:r>
              <a:rPr sz="1100" b="0" dirty="0" err="1">
                <a:solidFill>
                  <a:srgbClr val="FFFFFF"/>
                </a:solidFill>
              </a:rPr>
              <a:t>tmpfs</a:t>
            </a:r>
            <a:r>
              <a:rPr sz="1100" b="0" dirty="0">
                <a:solidFill>
                  <a:srgbClr val="FFFFFF"/>
                </a:solidFill>
              </a:rPr>
              <a:t>) + persistent storage</a:t>
            </a:r>
          </a:p>
          <a:p>
            <a:pPr algn="l">
              <a:spcBef>
                <a:spcPts val="400"/>
              </a:spcBef>
              <a:spcAft>
                <a:spcPts val="100"/>
              </a:spcAft>
            </a:pPr>
            <a:r>
              <a:rPr sz="1100" b="0" dirty="0">
                <a:solidFill>
                  <a:srgbClr val="FFFFFF"/>
                </a:solidFill>
              </a:rPr>
              <a:t>All backends use atomic writes (temp file + rename) and cache cleaning between phases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8046720" cy="594360"/>
          </a:xfrm>
          <a:prstGeom prst="rect">
            <a:avLst/>
          </a:prstGeom>
          <a:noFill/>
        </p:spPr>
        <p:txBody>
          <a:bodyPr wrap="square">
            <a:spAutoFit/>
          </a:bodyPr>
          <a:lstStyle/>
          <a:p>
            <a:pPr algn="l"/>
            <a:r>
              <a:rPr sz="2400" b="1">
                <a:solidFill>
                  <a:srgbClr val="4FC3F7"/>
                </a:solidFill>
              </a:rPr>
              <a:t>Current Results — Baseline</a:t>
            </a:r>
          </a:p>
        </p:txBody>
      </p:sp>
      <p:graphicFrame>
        <p:nvGraphicFramePr>
          <p:cNvPr id="3" name="Table 2"/>
          <p:cNvGraphicFramePr>
            <a:graphicFrameLocks noGrp="1"/>
          </p:cNvGraphicFramePr>
          <p:nvPr/>
        </p:nvGraphicFramePr>
        <p:xfrm>
          <a:off x="548640" y="914400"/>
          <a:ext cx="8046720" cy="105156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262890">
                <a:tc>
                  <a:txBody>
                    <a:bodyPr/>
                    <a:lstStyle/>
                    <a:p>
                      <a:pPr algn="l"/>
                      <a:r>
                        <a:rPr sz="900" b="1">
                          <a:solidFill>
                            <a:srgbClr val="4FC3F7"/>
                          </a:solidFill>
                        </a:rPr>
                        <a:t>Backend</a:t>
                      </a:r>
                    </a:p>
                  </a:txBody>
                  <a:tcPr marL="76200" marR="76200" marT="38100" marB="38100" anchor="ctr">
                    <a:solidFill>
                      <a:srgbClr val="2A2A45"/>
                    </a:solidFill>
                  </a:tcPr>
                </a:tc>
                <a:tc>
                  <a:txBody>
                    <a:bodyPr/>
                    <a:lstStyle/>
                    <a:p>
                      <a:pPr algn="l"/>
                      <a:r>
                        <a:rPr sz="900" b="1">
                          <a:solidFill>
                            <a:srgbClr val="4FC3F7"/>
                          </a:solidFill>
                        </a:rPr>
                        <a:t>Peak Read</a:t>
                      </a:r>
                    </a:p>
                  </a:txBody>
                  <a:tcPr marL="76200" marR="76200" marT="38100" marB="38100" anchor="ctr">
                    <a:solidFill>
                      <a:srgbClr val="2A2A45"/>
                    </a:solidFill>
                  </a:tcPr>
                </a:tc>
                <a:tc>
                  <a:txBody>
                    <a:bodyPr/>
                    <a:lstStyle/>
                    <a:p>
                      <a:pPr algn="l"/>
                      <a:r>
                        <a:rPr sz="900" b="1">
                          <a:solidFill>
                            <a:srgbClr val="4FC3F7"/>
                          </a:solidFill>
                        </a:rPr>
                        <a:t>Peak Write</a:t>
                      </a:r>
                    </a:p>
                  </a:txBody>
                  <a:tcPr marL="76200" marR="76200" marT="38100" marB="38100" anchor="ctr">
                    <a:solidFill>
                      <a:srgbClr val="2A2A45"/>
                    </a:solidFill>
                  </a:tcPr>
                </a:tc>
                <a:tc>
                  <a:txBody>
                    <a:bodyPr/>
                    <a:lstStyle/>
                    <a:p>
                      <a:pPr algn="l"/>
                      <a:r>
                        <a:rPr sz="900" b="1">
                          <a:solidFill>
                            <a:srgbClr val="4FC3F7"/>
                          </a:solidFill>
                        </a:rPr>
                        <a:t>Notes</a:t>
                      </a:r>
                    </a:p>
                  </a:txBody>
                  <a:tcPr marL="76200" marR="76200" marT="38100" marB="38100" anchor="ctr">
                    <a:solidFill>
                      <a:srgbClr val="2A2A45"/>
                    </a:solidFill>
                  </a:tcPr>
                </a:tc>
                <a:extLst>
                  <a:ext uri="{0D108BD9-81ED-4DB2-BD59-A6C34878D82A}">
                    <a16:rowId xmlns:a16="http://schemas.microsoft.com/office/drawing/2014/main" val="10000"/>
                  </a:ext>
                </a:extLst>
              </a:tr>
              <a:tr h="262890">
                <a:tc>
                  <a:txBody>
                    <a:bodyPr/>
                    <a:lstStyle/>
                    <a:p>
                      <a:pPr algn="l"/>
                      <a:r>
                        <a:rPr sz="900">
                          <a:solidFill>
                            <a:srgbClr val="FFFFFF"/>
                          </a:solidFill>
                        </a:rPr>
                        <a:t>C++ (pread + threadpool)</a:t>
                      </a:r>
                    </a:p>
                  </a:txBody>
                  <a:tcPr marL="76200" marR="76200" marT="38100" marB="38100" anchor="ctr">
                    <a:solidFill>
                      <a:srgbClr val="22223A"/>
                    </a:solidFill>
                  </a:tcPr>
                </a:tc>
                <a:tc>
                  <a:txBody>
                    <a:bodyPr/>
                    <a:lstStyle/>
                    <a:p>
                      <a:pPr algn="l"/>
                      <a:r>
                        <a:rPr sz="900">
                          <a:solidFill>
                            <a:srgbClr val="FFFFFF"/>
                          </a:solidFill>
                        </a:rPr>
                        <a:t>~55-60 GB/s</a:t>
                      </a:r>
                    </a:p>
                  </a:txBody>
                  <a:tcPr marL="76200" marR="76200" marT="38100" marB="38100" anchor="ctr">
                    <a:solidFill>
                      <a:srgbClr val="22223A"/>
                    </a:solidFill>
                  </a:tcPr>
                </a:tc>
                <a:tc>
                  <a:txBody>
                    <a:bodyPr/>
                    <a:lstStyle/>
                    <a:p>
                      <a:pPr algn="l"/>
                      <a:r>
                        <a:rPr sz="900">
                          <a:solidFill>
                            <a:srgbClr val="FFFFFF"/>
                          </a:solidFill>
                        </a:rPr>
                        <a:t>~40-45 GB/s</a:t>
                      </a:r>
                    </a:p>
                  </a:txBody>
                  <a:tcPr marL="76200" marR="76200" marT="38100" marB="38100" anchor="ctr">
                    <a:solidFill>
                      <a:srgbClr val="22223A"/>
                    </a:solidFill>
                  </a:tcPr>
                </a:tc>
                <a:tc>
                  <a:txBody>
                    <a:bodyPr/>
                    <a:lstStyle/>
                    <a:p>
                      <a:pPr algn="l"/>
                      <a:r>
                        <a:rPr sz="900">
                          <a:solidFill>
                            <a:srgbClr val="FFFFFF"/>
                          </a:solidFill>
                        </a:rPr>
                        <a:t>Best overall</a:t>
                      </a:r>
                    </a:p>
                  </a:txBody>
                  <a:tcPr marL="76200" marR="76200" marT="38100" marB="38100" anchor="ctr">
                    <a:solidFill>
                      <a:srgbClr val="22223A"/>
                    </a:solidFill>
                  </a:tcPr>
                </a:tc>
                <a:extLst>
                  <a:ext uri="{0D108BD9-81ED-4DB2-BD59-A6C34878D82A}">
                    <a16:rowId xmlns:a16="http://schemas.microsoft.com/office/drawing/2014/main" val="10001"/>
                  </a:ext>
                </a:extLst>
              </a:tr>
              <a:tr h="262890">
                <a:tc>
                  <a:txBody>
                    <a:bodyPr/>
                    <a:lstStyle/>
                    <a:p>
                      <a:pPr algn="l"/>
                      <a:r>
                        <a:rPr sz="900">
                          <a:solidFill>
                            <a:srgbClr val="FFFFFF"/>
                          </a:solidFill>
                        </a:rPr>
                        <a:t>Python self (readv)</a:t>
                      </a:r>
                    </a:p>
                  </a:txBody>
                  <a:tcPr marL="76200" marR="76200" marT="38100" marB="38100" anchor="ctr">
                    <a:solidFill>
                      <a:srgbClr val="282842"/>
                    </a:solidFill>
                  </a:tcPr>
                </a:tc>
                <a:tc>
                  <a:txBody>
                    <a:bodyPr/>
                    <a:lstStyle/>
                    <a:p>
                      <a:pPr algn="l"/>
                      <a:r>
                        <a:rPr sz="900">
                          <a:solidFill>
                            <a:srgbClr val="FFFFFF"/>
                          </a:solidFill>
                        </a:rPr>
                        <a:t>~45-55 GB/s</a:t>
                      </a:r>
                    </a:p>
                  </a:txBody>
                  <a:tcPr marL="76200" marR="76200" marT="38100" marB="38100" anchor="ctr">
                    <a:solidFill>
                      <a:srgbClr val="282842"/>
                    </a:solidFill>
                  </a:tcPr>
                </a:tc>
                <a:tc>
                  <a:txBody>
                    <a:bodyPr/>
                    <a:lstStyle/>
                    <a:p>
                      <a:pPr algn="l"/>
                      <a:r>
                        <a:rPr sz="900">
                          <a:solidFill>
                            <a:srgbClr val="FFFFFF"/>
                          </a:solidFill>
                        </a:rPr>
                        <a:t>~25-35 GB/s</a:t>
                      </a:r>
                    </a:p>
                  </a:txBody>
                  <a:tcPr marL="76200" marR="76200" marT="38100" marB="38100" anchor="ctr">
                    <a:solidFill>
                      <a:srgbClr val="282842"/>
                    </a:solidFill>
                  </a:tcPr>
                </a:tc>
                <a:tc>
                  <a:txBody>
                    <a:bodyPr/>
                    <a:lstStyle/>
                    <a:p>
                      <a:pPr algn="l"/>
                      <a:r>
                        <a:rPr sz="900">
                          <a:solidFill>
                            <a:srgbClr val="FFFFFF"/>
                          </a:solidFill>
                        </a:rPr>
                        <a:t>GIL limits writes</a:t>
                      </a:r>
                    </a:p>
                  </a:txBody>
                  <a:tcPr marL="76200" marR="76200" marT="38100" marB="38100" anchor="ctr">
                    <a:solidFill>
                      <a:srgbClr val="282842"/>
                    </a:solidFill>
                  </a:tcPr>
                </a:tc>
                <a:extLst>
                  <a:ext uri="{0D108BD9-81ED-4DB2-BD59-A6C34878D82A}">
                    <a16:rowId xmlns:a16="http://schemas.microsoft.com/office/drawing/2014/main" val="10002"/>
                  </a:ext>
                </a:extLst>
              </a:tr>
              <a:tr h="262890">
                <a:tc>
                  <a:txBody>
                    <a:bodyPr/>
                    <a:lstStyle/>
                    <a:p>
                      <a:pPr algn="l"/>
                      <a:r>
                        <a:rPr sz="900">
                          <a:solidFill>
                            <a:srgbClr val="FFFFFF"/>
                          </a:solidFill>
                        </a:rPr>
                        <a:t>NIXL</a:t>
                      </a:r>
                    </a:p>
                  </a:txBody>
                  <a:tcPr marL="76200" marR="76200" marT="38100" marB="38100" anchor="ctr">
                    <a:solidFill>
                      <a:srgbClr val="22223A"/>
                    </a:solidFill>
                  </a:tcPr>
                </a:tc>
                <a:tc>
                  <a:txBody>
                    <a:bodyPr/>
                    <a:lstStyle/>
                    <a:p>
                      <a:pPr algn="l"/>
                      <a:r>
                        <a:rPr sz="900">
                          <a:solidFill>
                            <a:srgbClr val="FFFFFF"/>
                          </a:solidFill>
                        </a:rPr>
                        <a:t>~15-20 GB/s</a:t>
                      </a:r>
                    </a:p>
                  </a:txBody>
                  <a:tcPr marL="76200" marR="76200" marT="38100" marB="38100" anchor="ctr">
                    <a:solidFill>
                      <a:srgbClr val="22223A"/>
                    </a:solidFill>
                  </a:tcPr>
                </a:tc>
                <a:tc>
                  <a:txBody>
                    <a:bodyPr/>
                    <a:lstStyle/>
                    <a:p>
                      <a:pPr algn="l"/>
                      <a:r>
                        <a:rPr sz="900">
                          <a:solidFill>
                            <a:srgbClr val="FFFFFF"/>
                          </a:solidFill>
                        </a:rPr>
                        <a:t>~10-15 GB/s</a:t>
                      </a:r>
                    </a:p>
                  </a:txBody>
                  <a:tcPr marL="76200" marR="76200" marT="38100" marB="38100" anchor="ctr">
                    <a:solidFill>
                      <a:srgbClr val="22223A"/>
                    </a:solidFill>
                  </a:tcPr>
                </a:tc>
                <a:tc>
                  <a:txBody>
                    <a:bodyPr/>
                    <a:lstStyle/>
                    <a:p>
                      <a:pPr algn="l"/>
                      <a:r>
                        <a:rPr sz="900">
                          <a:solidFill>
                            <a:srgbClr val="FFFFFF"/>
                          </a:solidFill>
                        </a:rPr>
                        <a:t>Busy-poll overhead</a:t>
                      </a:r>
                    </a:p>
                  </a:txBody>
                  <a:tcPr marL="76200" marR="76200" marT="38100" marB="38100" anchor="ctr">
                    <a:solidFill>
                      <a:srgbClr val="22223A"/>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548640" y="2148840"/>
            <a:ext cx="8046720" cy="2560320"/>
          </a:xfrm>
          <a:prstGeom prst="rect">
            <a:avLst/>
          </a:prstGeom>
          <a:noFill/>
        </p:spPr>
        <p:txBody>
          <a:bodyPr wrap="square">
            <a:spAutoFit/>
          </a:bodyPr>
          <a:lstStyle/>
          <a:p>
            <a:pPr algn="l"/>
            <a:r>
              <a:rPr sz="1400" b="1">
                <a:solidFill>
                  <a:srgbClr val="66BB6A"/>
                </a:solidFill>
              </a:rPr>
              <a:t>Key Observations</a:t>
            </a:r>
          </a:p>
          <a:p>
            <a:pPr algn="l">
              <a:spcBef>
                <a:spcPts val="400"/>
              </a:spcBef>
              <a:spcAft>
                <a:spcPts val="100"/>
              </a:spcAft>
            </a:pPr>
            <a:r>
              <a:rPr sz="1100" b="0">
                <a:solidFill>
                  <a:srgbClr val="FFFFFF"/>
                </a:solidFill>
              </a:rPr>
              <a:t>Throughput plateaus at 16-32MB block size</a:t>
            </a:r>
          </a:p>
          <a:p>
            <a:pPr algn="l">
              <a:spcBef>
                <a:spcPts val="400"/>
              </a:spcBef>
              <a:spcAft>
                <a:spcPts val="100"/>
              </a:spcAft>
            </a:pPr>
            <a:r>
              <a:rPr sz="1100" b="0">
                <a:solidFill>
                  <a:srgbClr val="FFFFFF"/>
                </a:solidFill>
              </a:rPr>
              <a:t>Diminishing returns beyond 32 threads</a:t>
            </a:r>
          </a:p>
          <a:p>
            <a:pPr algn="l">
              <a:spcBef>
                <a:spcPts val="400"/>
              </a:spcBef>
              <a:spcAft>
                <a:spcPts val="100"/>
              </a:spcAft>
            </a:pPr>
            <a:r>
              <a:rPr sz="1100" b="0">
                <a:solidFill>
                  <a:srgbClr val="FFFFFF"/>
                </a:solidFill>
              </a:rPr>
              <a:t>C++ wins: GIL released, native thread pool, serialized file creation avoids dir contention</a:t>
            </a:r>
          </a:p>
          <a:p>
            <a:pPr algn="l">
              <a:spcBef>
                <a:spcPts val="400"/>
              </a:spcBef>
              <a:spcAft>
                <a:spcPts val="100"/>
              </a:spcAft>
            </a:pPr>
            <a:r>
              <a:rPr sz="1000" b="0">
                <a:solidFill>
                  <a:srgbClr val="BBBBBB"/>
                </a:solidFill>
              </a:rPr>
              <a:t>Tested on /dev/shm (tmpfs) — 100GB data, 5 iterations, cache cleaned between phases</a:t>
            </a:r>
          </a:p>
          <a:p>
            <a:pPr algn="l">
              <a:spcBef>
                <a:spcPts val="1000"/>
              </a:spcBef>
              <a:spcAft>
                <a:spcPts val="100"/>
              </a:spcAft>
            </a:pPr>
            <a:r>
              <a:rPr sz="1200" b="1">
                <a:solidFill>
                  <a:srgbClr val="FFA726"/>
                </a:solidFill>
              </a:rPr>
              <a:t>This is our baseline — the C++ backend using standard POSIX pread/pwrite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8046720" cy="594360"/>
          </a:xfrm>
          <a:prstGeom prst="rect">
            <a:avLst/>
          </a:prstGeom>
          <a:noFill/>
        </p:spPr>
        <p:txBody>
          <a:bodyPr wrap="square">
            <a:spAutoFit/>
          </a:bodyPr>
          <a:lstStyle/>
          <a:p>
            <a:pPr algn="l"/>
            <a:r>
              <a:rPr sz="2400" b="1">
                <a:solidFill>
                  <a:srgbClr val="4FC3F7"/>
                </a:solidFill>
              </a:rPr>
              <a:t>How Linux I/O Works — Where We Can Improve</a:t>
            </a:r>
          </a:p>
        </p:txBody>
      </p:sp>
      <p:sp>
        <p:nvSpPr>
          <p:cNvPr id="3" name="Rounded Rectangle 2"/>
          <p:cNvSpPr/>
          <p:nvPr/>
        </p:nvSpPr>
        <p:spPr>
          <a:xfrm>
            <a:off x="548640" y="960120"/>
            <a:ext cx="1188720" cy="438912"/>
          </a:xfrm>
          <a:prstGeom prst="roundRect">
            <a:avLst/>
          </a:prstGeom>
          <a:solidFill>
            <a:srgbClr val="2A2A45"/>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800" b="1">
                <a:solidFill>
                  <a:srgbClr val="4FC3F7"/>
                </a:solidFill>
              </a:rPr>
              <a:t>User Buffer</a:t>
            </a:r>
          </a:p>
        </p:txBody>
      </p:sp>
      <p:sp>
        <p:nvSpPr>
          <p:cNvPr id="4" name="TextBox 3"/>
          <p:cNvSpPr txBox="1"/>
          <p:nvPr/>
        </p:nvSpPr>
        <p:spPr>
          <a:xfrm>
            <a:off x="1737360" y="1103376"/>
            <a:ext cx="164592" cy="182880"/>
          </a:xfrm>
          <a:prstGeom prst="rect">
            <a:avLst/>
          </a:prstGeom>
          <a:noFill/>
        </p:spPr>
        <p:txBody>
          <a:bodyPr wrap="none">
            <a:spAutoFit/>
          </a:bodyPr>
          <a:lstStyle/>
          <a:p>
            <a:pPr algn="ctr"/>
            <a:r>
              <a:rPr sz="1100">
                <a:solidFill>
                  <a:srgbClr val="BBBBBB"/>
                </a:solidFill>
              </a:rPr>
              <a:t>→</a:t>
            </a:r>
          </a:p>
        </p:txBody>
      </p:sp>
      <p:sp>
        <p:nvSpPr>
          <p:cNvPr id="5" name="Rounded Rectangle 4"/>
          <p:cNvSpPr/>
          <p:nvPr/>
        </p:nvSpPr>
        <p:spPr>
          <a:xfrm>
            <a:off x="1901952" y="960120"/>
            <a:ext cx="1188720" cy="438912"/>
          </a:xfrm>
          <a:prstGeom prst="roundRect">
            <a:avLst/>
          </a:prstGeom>
          <a:solidFill>
            <a:srgbClr val="2A2A45"/>
          </a:solidFill>
          <a:ln w="19050">
            <a:solidFill>
              <a:srgbClr val="FFA726"/>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800" b="1">
                <a:solidFill>
                  <a:srgbClr val="FFA726"/>
                </a:solidFill>
              </a:rPr>
              <a:t>syscall
(ctx switch)</a:t>
            </a:r>
          </a:p>
        </p:txBody>
      </p:sp>
      <p:sp>
        <p:nvSpPr>
          <p:cNvPr id="6" name="TextBox 5"/>
          <p:cNvSpPr txBox="1"/>
          <p:nvPr/>
        </p:nvSpPr>
        <p:spPr>
          <a:xfrm>
            <a:off x="3090672" y="1103376"/>
            <a:ext cx="164592" cy="182880"/>
          </a:xfrm>
          <a:prstGeom prst="rect">
            <a:avLst/>
          </a:prstGeom>
          <a:noFill/>
        </p:spPr>
        <p:txBody>
          <a:bodyPr wrap="none">
            <a:spAutoFit/>
          </a:bodyPr>
          <a:lstStyle/>
          <a:p>
            <a:pPr algn="ctr"/>
            <a:r>
              <a:rPr sz="1100">
                <a:solidFill>
                  <a:srgbClr val="BBBBBB"/>
                </a:solidFill>
              </a:rPr>
              <a:t>→</a:t>
            </a:r>
          </a:p>
        </p:txBody>
      </p:sp>
      <p:sp>
        <p:nvSpPr>
          <p:cNvPr id="7" name="Rounded Rectangle 6"/>
          <p:cNvSpPr/>
          <p:nvPr/>
        </p:nvSpPr>
        <p:spPr>
          <a:xfrm>
            <a:off x="3255264" y="960120"/>
            <a:ext cx="1188720" cy="438912"/>
          </a:xfrm>
          <a:prstGeom prst="roundRect">
            <a:avLst/>
          </a:prstGeom>
          <a:solidFill>
            <a:srgbClr val="2A2A45"/>
          </a:solidFill>
          <a:ln w="19050">
            <a:solidFill>
              <a:srgbClr val="FFA726"/>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800" b="1">
                <a:solidFill>
                  <a:srgbClr val="FFA726"/>
                </a:solidFill>
              </a:rPr>
              <a:t>Page Cache
(kernel copy)</a:t>
            </a:r>
          </a:p>
        </p:txBody>
      </p:sp>
      <p:sp>
        <p:nvSpPr>
          <p:cNvPr id="8" name="TextBox 7"/>
          <p:cNvSpPr txBox="1"/>
          <p:nvPr/>
        </p:nvSpPr>
        <p:spPr>
          <a:xfrm>
            <a:off x="4443984" y="1103376"/>
            <a:ext cx="164592" cy="182880"/>
          </a:xfrm>
          <a:prstGeom prst="rect">
            <a:avLst/>
          </a:prstGeom>
          <a:noFill/>
        </p:spPr>
        <p:txBody>
          <a:bodyPr wrap="none">
            <a:spAutoFit/>
          </a:bodyPr>
          <a:lstStyle/>
          <a:p>
            <a:pPr algn="ctr"/>
            <a:r>
              <a:rPr sz="1100">
                <a:solidFill>
                  <a:srgbClr val="BBBBBB"/>
                </a:solidFill>
              </a:rPr>
              <a:t>→</a:t>
            </a:r>
          </a:p>
        </p:txBody>
      </p:sp>
      <p:sp>
        <p:nvSpPr>
          <p:cNvPr id="9" name="Rounded Rectangle 8"/>
          <p:cNvSpPr/>
          <p:nvPr/>
        </p:nvSpPr>
        <p:spPr>
          <a:xfrm>
            <a:off x="4608576" y="960120"/>
            <a:ext cx="1188720" cy="438912"/>
          </a:xfrm>
          <a:prstGeom prst="roundRect">
            <a:avLst/>
          </a:prstGeom>
          <a:solidFill>
            <a:srgbClr val="2A2A45"/>
          </a:solidFill>
          <a:ln w="19050">
            <a:solidFill>
              <a:srgbClr val="FFA726"/>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800" b="1">
                <a:solidFill>
                  <a:srgbClr val="FFA726"/>
                </a:solidFill>
              </a:rPr>
              <a:t>Block Layer
(scheduler)</a:t>
            </a:r>
          </a:p>
        </p:txBody>
      </p:sp>
      <p:sp>
        <p:nvSpPr>
          <p:cNvPr id="10" name="TextBox 9"/>
          <p:cNvSpPr txBox="1"/>
          <p:nvPr/>
        </p:nvSpPr>
        <p:spPr>
          <a:xfrm>
            <a:off x="5797296" y="1103376"/>
            <a:ext cx="164592" cy="182880"/>
          </a:xfrm>
          <a:prstGeom prst="rect">
            <a:avLst/>
          </a:prstGeom>
          <a:noFill/>
        </p:spPr>
        <p:txBody>
          <a:bodyPr wrap="none">
            <a:spAutoFit/>
          </a:bodyPr>
          <a:lstStyle/>
          <a:p>
            <a:pPr algn="ctr"/>
            <a:r>
              <a:rPr sz="1100">
                <a:solidFill>
                  <a:srgbClr val="BBBBBB"/>
                </a:solidFill>
              </a:rPr>
              <a:t>→</a:t>
            </a:r>
          </a:p>
        </p:txBody>
      </p:sp>
      <p:sp>
        <p:nvSpPr>
          <p:cNvPr id="11" name="Rounded Rectangle 10"/>
          <p:cNvSpPr/>
          <p:nvPr/>
        </p:nvSpPr>
        <p:spPr>
          <a:xfrm>
            <a:off x="5961888" y="960120"/>
            <a:ext cx="1188720" cy="438912"/>
          </a:xfrm>
          <a:prstGeom prst="roundRect">
            <a:avLst/>
          </a:prstGeom>
          <a:solidFill>
            <a:srgbClr val="2A2A45"/>
          </a:solidFill>
          <a:ln w="19050">
            <a:solidFill>
              <a:srgbClr val="BBBBBB"/>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800" b="1">
                <a:solidFill>
                  <a:srgbClr val="BBBBBB"/>
                </a:solidFill>
              </a:rPr>
              <a:t>Device Driver</a:t>
            </a:r>
          </a:p>
        </p:txBody>
      </p:sp>
      <p:sp>
        <p:nvSpPr>
          <p:cNvPr id="12" name="TextBox 11"/>
          <p:cNvSpPr txBox="1"/>
          <p:nvPr/>
        </p:nvSpPr>
        <p:spPr>
          <a:xfrm>
            <a:off x="7150608" y="1103376"/>
            <a:ext cx="164592" cy="182880"/>
          </a:xfrm>
          <a:prstGeom prst="rect">
            <a:avLst/>
          </a:prstGeom>
          <a:noFill/>
        </p:spPr>
        <p:txBody>
          <a:bodyPr wrap="none">
            <a:spAutoFit/>
          </a:bodyPr>
          <a:lstStyle/>
          <a:p>
            <a:pPr algn="ctr"/>
            <a:r>
              <a:rPr sz="1100">
                <a:solidFill>
                  <a:srgbClr val="BBBBBB"/>
                </a:solidFill>
              </a:rPr>
              <a:t>→</a:t>
            </a:r>
          </a:p>
        </p:txBody>
      </p:sp>
      <p:sp>
        <p:nvSpPr>
          <p:cNvPr id="13" name="Rounded Rectangle 12"/>
          <p:cNvSpPr/>
          <p:nvPr/>
        </p:nvSpPr>
        <p:spPr>
          <a:xfrm>
            <a:off x="7315200" y="960120"/>
            <a:ext cx="1188720" cy="438912"/>
          </a:xfrm>
          <a:prstGeom prst="roundRect">
            <a:avLst/>
          </a:prstGeom>
          <a:solidFill>
            <a:srgbClr val="2A2A45"/>
          </a:solidFill>
          <a:ln w="19050">
            <a:solidFill>
              <a:srgbClr val="BBBBBB"/>
            </a:solid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800" b="1">
                <a:solidFill>
                  <a:srgbClr val="BBBBBB"/>
                </a:solidFill>
              </a:rPr>
              <a:t>Storage</a:t>
            </a:r>
          </a:p>
        </p:txBody>
      </p:sp>
      <p:sp>
        <p:nvSpPr>
          <p:cNvPr id="14" name="TextBox 13"/>
          <p:cNvSpPr txBox="1"/>
          <p:nvPr/>
        </p:nvSpPr>
        <p:spPr>
          <a:xfrm>
            <a:off x="548640" y="1645920"/>
            <a:ext cx="3657600" cy="2011680"/>
          </a:xfrm>
          <a:prstGeom prst="rect">
            <a:avLst/>
          </a:prstGeom>
          <a:noFill/>
        </p:spPr>
        <p:txBody>
          <a:bodyPr wrap="square">
            <a:spAutoFit/>
          </a:bodyPr>
          <a:lstStyle/>
          <a:p>
            <a:pPr algn="l"/>
            <a:r>
              <a:rPr sz="1300" b="1">
                <a:solidFill>
                  <a:srgbClr val="4FC3F7"/>
                </a:solidFill>
              </a:rPr>
              <a:t>Three bottlenecks:</a:t>
            </a:r>
          </a:p>
          <a:p>
            <a:pPr algn="l">
              <a:spcBef>
                <a:spcPts val="400"/>
              </a:spcBef>
              <a:spcAft>
                <a:spcPts val="100"/>
              </a:spcAft>
            </a:pPr>
            <a:r>
              <a:rPr sz="1100" b="0">
                <a:solidFill>
                  <a:srgbClr val="FFFFFF"/>
                </a:solidFill>
              </a:rPr>
              <a:t>1. Syscall overhead — 1 context switch per pread, ×1000+ blocks</a:t>
            </a:r>
          </a:p>
          <a:p>
            <a:pPr algn="l">
              <a:spcBef>
                <a:spcPts val="400"/>
              </a:spcBef>
              <a:spcAft>
                <a:spcPts val="100"/>
              </a:spcAft>
            </a:pPr>
            <a:r>
              <a:rPr sz="1100" b="0">
                <a:solidFill>
                  <a:srgbClr val="FFFFFF"/>
                </a:solidFill>
              </a:rPr>
              <a:t>2. Page cache copy — double copy through kernel buffers</a:t>
            </a:r>
          </a:p>
          <a:p>
            <a:pPr algn="l">
              <a:spcBef>
                <a:spcPts val="400"/>
              </a:spcBef>
              <a:spcAft>
                <a:spcPts val="100"/>
              </a:spcAft>
            </a:pPr>
            <a:r>
              <a:rPr sz="1100" b="0">
                <a:solidFill>
                  <a:srgbClr val="FFFFFF"/>
                </a:solidFill>
              </a:rPr>
              <a:t>3. Scheduling — kernel doesn’t know our access pattern</a:t>
            </a:r>
          </a:p>
        </p:txBody>
      </p:sp>
      <p:sp>
        <p:nvSpPr>
          <p:cNvPr id="15" name="TextBox 14"/>
          <p:cNvSpPr txBox="1"/>
          <p:nvPr/>
        </p:nvSpPr>
        <p:spPr>
          <a:xfrm>
            <a:off x="4572000" y="1645920"/>
            <a:ext cx="4023360" cy="3108960"/>
          </a:xfrm>
          <a:prstGeom prst="rect">
            <a:avLst/>
          </a:prstGeom>
          <a:noFill/>
        </p:spPr>
        <p:txBody>
          <a:bodyPr wrap="square">
            <a:spAutoFit/>
          </a:bodyPr>
          <a:lstStyle/>
          <a:p>
            <a:pPr algn="l"/>
            <a:r>
              <a:rPr sz="1300" b="1">
                <a:solidFill>
                  <a:srgbClr val="66BB6A"/>
                </a:solidFill>
              </a:rPr>
              <a:t>What eliminates each:</a:t>
            </a:r>
          </a:p>
          <a:p>
            <a:pPr algn="l">
              <a:spcBef>
                <a:spcPts val="400"/>
              </a:spcBef>
              <a:spcAft>
                <a:spcPts val="100"/>
              </a:spcAft>
            </a:pPr>
            <a:r>
              <a:rPr sz="1100" b="1">
                <a:solidFill>
                  <a:srgbClr val="4FC3F7"/>
                </a:solidFill>
              </a:rPr>
              <a:t>io_uring → eliminates #1</a:t>
            </a:r>
          </a:p>
          <a:p>
            <a:pPr lvl="1" algn="l">
              <a:spcBef>
                <a:spcPts val="400"/>
              </a:spcBef>
              <a:spcAft>
                <a:spcPts val="100"/>
              </a:spcAft>
            </a:pPr>
            <a:r>
              <a:rPr sz="900" b="0">
                <a:solidFill>
                  <a:srgbClr val="BBBBBB"/>
                </a:solidFill>
              </a:rPr>
              <a:t>Shared ring buffer, batch I/O ops. ScyllaDB, TigerBeetle. Linux 5.1+</a:t>
            </a:r>
          </a:p>
          <a:p>
            <a:pPr algn="l">
              <a:spcBef>
                <a:spcPts val="400"/>
              </a:spcBef>
              <a:spcAft>
                <a:spcPts val="100"/>
              </a:spcAft>
            </a:pPr>
            <a:r>
              <a:rPr sz="1100" b="1">
                <a:solidFill>
                  <a:srgbClr val="4FC3F7"/>
                </a:solidFill>
              </a:rPr>
              <a:t>O_DIRECT → eliminates #2</a:t>
            </a:r>
          </a:p>
          <a:p>
            <a:pPr lvl="1" algn="l">
              <a:spcBef>
                <a:spcPts val="400"/>
              </a:spcBef>
              <a:spcAft>
                <a:spcPts val="100"/>
              </a:spcAft>
            </a:pPr>
            <a:r>
              <a:rPr sz="900" b="0">
                <a:solidFill>
                  <a:srgbClr val="BBBBBB"/>
                </a:solidFill>
              </a:rPr>
              <a:t>Bypass page cache, straight to user buffer. Needs 4K alignment.</a:t>
            </a:r>
          </a:p>
          <a:p>
            <a:pPr algn="l">
              <a:spcBef>
                <a:spcPts val="400"/>
              </a:spcBef>
              <a:spcAft>
                <a:spcPts val="100"/>
              </a:spcAft>
            </a:pPr>
            <a:r>
              <a:rPr sz="1100" b="1">
                <a:solidFill>
                  <a:srgbClr val="4FC3F7"/>
                </a:solidFill>
              </a:rPr>
              <a:t>posix_fadvise → helps #3</a:t>
            </a:r>
          </a:p>
          <a:p>
            <a:pPr lvl="1" algn="l">
              <a:spcBef>
                <a:spcPts val="400"/>
              </a:spcBef>
              <a:spcAft>
                <a:spcPts val="100"/>
              </a:spcAft>
            </a:pPr>
            <a:r>
              <a:rPr sz="900" b="0">
                <a:solidFill>
                  <a:srgbClr val="BBBBBB"/>
                </a:solidFill>
              </a:rPr>
              <a:t>SEQUENTIAL / WILLNEED hints. Nearly free.</a:t>
            </a:r>
          </a:p>
          <a:p>
            <a:pPr algn="l">
              <a:spcBef>
                <a:spcPts val="400"/>
              </a:spcBef>
              <a:spcAft>
                <a:spcPts val="100"/>
              </a:spcAft>
            </a:pPr>
            <a:r>
              <a:rPr sz="1100" b="1">
                <a:solidFill>
                  <a:srgbClr val="FFA726"/>
                </a:solidFill>
              </a:rPr>
              <a:t>Combined → eliminates all three</a:t>
            </a:r>
          </a:p>
          <a:p>
            <a:pPr lvl="1" algn="l">
              <a:spcBef>
                <a:spcPts val="400"/>
              </a:spcBef>
              <a:spcAft>
                <a:spcPts val="100"/>
              </a:spcAft>
            </a:pPr>
            <a:r>
              <a:rPr sz="900" b="0">
                <a:solidFill>
                  <a:srgbClr val="BBBBBB"/>
                </a:solidFill>
              </a:rPr>
              <a:t>Theoretical ceiling for Linux I/O performance.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8046720" cy="594360"/>
          </a:xfrm>
          <a:prstGeom prst="rect">
            <a:avLst/>
          </a:prstGeom>
          <a:noFill/>
        </p:spPr>
        <p:txBody>
          <a:bodyPr wrap="square">
            <a:spAutoFit/>
          </a:bodyPr>
          <a:lstStyle/>
          <a:p>
            <a:pPr algn="l"/>
            <a:r>
              <a:rPr sz="2400" b="1">
                <a:solidFill>
                  <a:srgbClr val="4FC3F7"/>
                </a:solidFill>
              </a:rPr>
              <a:t>Optimization Approaches</a:t>
            </a:r>
          </a:p>
        </p:txBody>
      </p:sp>
      <p:sp>
        <p:nvSpPr>
          <p:cNvPr id="3" name="TextBox 2"/>
          <p:cNvSpPr txBox="1"/>
          <p:nvPr/>
        </p:nvSpPr>
        <p:spPr>
          <a:xfrm>
            <a:off x="548640" y="822960"/>
            <a:ext cx="8046720" cy="274320"/>
          </a:xfrm>
          <a:prstGeom prst="rect">
            <a:avLst/>
          </a:prstGeom>
          <a:noFill/>
        </p:spPr>
        <p:txBody>
          <a:bodyPr wrap="none">
            <a:spAutoFit/>
          </a:bodyPr>
          <a:lstStyle/>
          <a:p>
            <a:pPr algn="l"/>
            <a:r>
              <a:rPr sz="1300" b="1">
                <a:solidFill>
                  <a:srgbClr val="66BB6A"/>
                </a:solidFill>
              </a:rPr>
              <a:t>A. Optimize Current Approach (existing C++ backend)</a:t>
            </a:r>
          </a:p>
        </p:txBody>
      </p:sp>
      <p:graphicFrame>
        <p:nvGraphicFramePr>
          <p:cNvPr id="4" name="Table 3"/>
          <p:cNvGraphicFramePr>
            <a:graphicFrameLocks noGrp="1"/>
          </p:cNvGraphicFramePr>
          <p:nvPr/>
        </p:nvGraphicFramePr>
        <p:xfrm>
          <a:off x="548640" y="1143000"/>
          <a:ext cx="8046720" cy="13716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28600">
                <a:tc>
                  <a:txBody>
                    <a:bodyPr/>
                    <a:lstStyle/>
                    <a:p>
                      <a:pPr algn="l"/>
                      <a:r>
                        <a:rPr sz="900" b="1">
                          <a:solidFill>
                            <a:srgbClr val="4FC3F7"/>
                          </a:solidFill>
                        </a:rPr>
                        <a:t>Parameter</a:t>
                      </a:r>
                    </a:p>
                  </a:txBody>
                  <a:tcPr marL="76200" marR="76200" marT="38100" marB="38100" anchor="ctr">
                    <a:solidFill>
                      <a:srgbClr val="2A2A45"/>
                    </a:solidFill>
                  </a:tcPr>
                </a:tc>
                <a:tc>
                  <a:txBody>
                    <a:bodyPr/>
                    <a:lstStyle/>
                    <a:p>
                      <a:pPr algn="l"/>
                      <a:r>
                        <a:rPr sz="900" b="1">
                          <a:solidFill>
                            <a:srgbClr val="4FC3F7"/>
                          </a:solidFill>
                        </a:rPr>
                        <a:t>What it does</a:t>
                      </a:r>
                    </a:p>
                  </a:txBody>
                  <a:tcPr marL="76200" marR="76200" marT="38100" marB="38100" anchor="ctr">
                    <a:solidFill>
                      <a:srgbClr val="2A2A45"/>
                    </a:solidFill>
                  </a:tcPr>
                </a:tc>
                <a:tc>
                  <a:txBody>
                    <a:bodyPr/>
                    <a:lstStyle/>
                    <a:p>
                      <a:pPr algn="l"/>
                      <a:r>
                        <a:rPr sz="900" b="1">
                          <a:solidFill>
                            <a:srgbClr val="4FC3F7"/>
                          </a:solidFill>
                        </a:rPr>
                        <a:t>Effort</a:t>
                      </a:r>
                    </a:p>
                  </a:txBody>
                  <a:tcPr marL="76200" marR="76200" marT="38100" marB="38100" anchor="ctr">
                    <a:solidFill>
                      <a:srgbClr val="2A2A45"/>
                    </a:solidFill>
                  </a:tcPr>
                </a:tc>
                <a:extLst>
                  <a:ext uri="{0D108BD9-81ED-4DB2-BD59-A6C34878D82A}">
                    <a16:rowId xmlns:a16="http://schemas.microsoft.com/office/drawing/2014/main" val="10000"/>
                  </a:ext>
                </a:extLst>
              </a:tr>
              <a:tr h="228600">
                <a:tc>
                  <a:txBody>
                    <a:bodyPr/>
                    <a:lstStyle/>
                    <a:p>
                      <a:pPr algn="l"/>
                      <a:r>
                        <a:rPr sz="900">
                          <a:solidFill>
                            <a:srgbClr val="FFFFFF"/>
                          </a:solidFill>
                        </a:rPr>
                        <a:t>O_NOATIME</a:t>
                      </a:r>
                    </a:p>
                  </a:txBody>
                  <a:tcPr marL="76200" marR="76200" marT="38100" marB="38100" anchor="ctr">
                    <a:solidFill>
                      <a:srgbClr val="22223A"/>
                    </a:solidFill>
                  </a:tcPr>
                </a:tc>
                <a:tc>
                  <a:txBody>
                    <a:bodyPr/>
                    <a:lstStyle/>
                    <a:p>
                      <a:pPr algn="l"/>
                      <a:r>
                        <a:rPr sz="900">
                          <a:solidFill>
                            <a:srgbClr val="FFFFFF"/>
                          </a:solidFill>
                        </a:rPr>
                        <a:t>Skip access time metadata update on every read</a:t>
                      </a:r>
                    </a:p>
                  </a:txBody>
                  <a:tcPr marL="76200" marR="76200" marT="38100" marB="38100" anchor="ctr">
                    <a:solidFill>
                      <a:srgbClr val="22223A"/>
                    </a:solidFill>
                  </a:tcPr>
                </a:tc>
                <a:tc>
                  <a:txBody>
                    <a:bodyPr/>
                    <a:lstStyle/>
                    <a:p>
                      <a:pPr algn="l"/>
                      <a:r>
                        <a:rPr sz="900">
                          <a:solidFill>
                            <a:srgbClr val="FFFFFF"/>
                          </a:solidFill>
                        </a:rPr>
                        <a:t>1 line</a:t>
                      </a:r>
                    </a:p>
                  </a:txBody>
                  <a:tcPr marL="76200" marR="76200" marT="38100" marB="38100" anchor="ctr">
                    <a:solidFill>
                      <a:srgbClr val="22223A"/>
                    </a:solidFill>
                  </a:tcPr>
                </a:tc>
                <a:extLst>
                  <a:ext uri="{0D108BD9-81ED-4DB2-BD59-A6C34878D82A}">
                    <a16:rowId xmlns:a16="http://schemas.microsoft.com/office/drawing/2014/main" val="10001"/>
                  </a:ext>
                </a:extLst>
              </a:tr>
              <a:tr h="228600">
                <a:tc>
                  <a:txBody>
                    <a:bodyPr/>
                    <a:lstStyle/>
                    <a:p>
                      <a:pPr algn="l"/>
                      <a:r>
                        <a:rPr sz="900">
                          <a:solidFill>
                            <a:srgbClr val="FFFFFF"/>
                          </a:solidFill>
                        </a:rPr>
                        <a:t>posix_fadvise</a:t>
                      </a:r>
                    </a:p>
                  </a:txBody>
                  <a:tcPr marL="76200" marR="76200" marT="38100" marB="38100" anchor="ctr">
                    <a:solidFill>
                      <a:srgbClr val="282842"/>
                    </a:solidFill>
                  </a:tcPr>
                </a:tc>
                <a:tc>
                  <a:txBody>
                    <a:bodyPr/>
                    <a:lstStyle/>
                    <a:p>
                      <a:pPr algn="l"/>
                      <a:r>
                        <a:rPr sz="900">
                          <a:solidFill>
                            <a:srgbClr val="FFFFFF"/>
                          </a:solidFill>
                        </a:rPr>
                        <a:t>Tell kernel our access pattern (sequential / prefetch)</a:t>
                      </a:r>
                    </a:p>
                  </a:txBody>
                  <a:tcPr marL="76200" marR="76200" marT="38100" marB="38100" anchor="ctr">
                    <a:solidFill>
                      <a:srgbClr val="282842"/>
                    </a:solidFill>
                  </a:tcPr>
                </a:tc>
                <a:tc>
                  <a:txBody>
                    <a:bodyPr/>
                    <a:lstStyle/>
                    <a:p>
                      <a:pPr algn="l"/>
                      <a:r>
                        <a:rPr sz="900">
                          <a:solidFill>
                            <a:srgbClr val="FFFFFF"/>
                          </a:solidFill>
                        </a:rPr>
                        <a:t>2-3 lines</a:t>
                      </a:r>
                    </a:p>
                  </a:txBody>
                  <a:tcPr marL="76200" marR="76200" marT="38100" marB="38100" anchor="ctr">
                    <a:solidFill>
                      <a:srgbClr val="282842"/>
                    </a:solidFill>
                  </a:tcPr>
                </a:tc>
                <a:extLst>
                  <a:ext uri="{0D108BD9-81ED-4DB2-BD59-A6C34878D82A}">
                    <a16:rowId xmlns:a16="http://schemas.microsoft.com/office/drawing/2014/main" val="10002"/>
                  </a:ext>
                </a:extLst>
              </a:tr>
              <a:tr h="228600">
                <a:tc>
                  <a:txBody>
                    <a:bodyPr/>
                    <a:lstStyle/>
                    <a:p>
                      <a:pPr algn="l"/>
                      <a:r>
                        <a:rPr sz="900">
                          <a:solidFill>
                            <a:srgbClr val="FFFFFF"/>
                          </a:solidFill>
                        </a:rPr>
                        <a:t>I/O chunk size</a:t>
                      </a:r>
                    </a:p>
                  </a:txBody>
                  <a:tcPr marL="76200" marR="76200" marT="38100" marB="38100" anchor="ctr">
                    <a:solidFill>
                      <a:srgbClr val="22223A"/>
                    </a:solidFill>
                  </a:tcPr>
                </a:tc>
                <a:tc>
                  <a:txBody>
                    <a:bodyPr/>
                    <a:lstStyle/>
                    <a:p>
                      <a:pPr algn="l"/>
                      <a:r>
                        <a:rPr sz="900">
                          <a:solidFill>
                            <a:srgbClr val="FFFFFF"/>
                          </a:solidFill>
                        </a:rPr>
                        <a:t>Tune pread/pwrite size within a block</a:t>
                      </a:r>
                    </a:p>
                  </a:txBody>
                  <a:tcPr marL="76200" marR="76200" marT="38100" marB="38100" anchor="ctr">
                    <a:solidFill>
                      <a:srgbClr val="22223A"/>
                    </a:solidFill>
                  </a:tcPr>
                </a:tc>
                <a:tc>
                  <a:txBody>
                    <a:bodyPr/>
                    <a:lstStyle/>
                    <a:p>
                      <a:pPr algn="l"/>
                      <a:r>
                        <a:rPr sz="900">
                          <a:solidFill>
                            <a:srgbClr val="FFFFFF"/>
                          </a:solidFill>
                        </a:rPr>
                        <a:t>Small</a:t>
                      </a:r>
                    </a:p>
                  </a:txBody>
                  <a:tcPr marL="76200" marR="76200" marT="38100" marB="38100" anchor="ctr">
                    <a:solidFill>
                      <a:srgbClr val="22223A"/>
                    </a:solidFill>
                  </a:tcPr>
                </a:tc>
                <a:extLst>
                  <a:ext uri="{0D108BD9-81ED-4DB2-BD59-A6C34878D82A}">
                    <a16:rowId xmlns:a16="http://schemas.microsoft.com/office/drawing/2014/main" val="10003"/>
                  </a:ext>
                </a:extLst>
              </a:tr>
              <a:tr h="228600">
                <a:tc>
                  <a:txBody>
                    <a:bodyPr/>
                    <a:lstStyle/>
                    <a:p>
                      <a:pPr algn="l"/>
                      <a:r>
                        <a:rPr sz="900">
                          <a:solidFill>
                            <a:srgbClr val="FFFFFF"/>
                          </a:solidFill>
                        </a:rPr>
                        <a:t>Prefetch depth</a:t>
                      </a:r>
                    </a:p>
                  </a:txBody>
                  <a:tcPr marL="76200" marR="76200" marT="38100" marB="38100" anchor="ctr">
                    <a:solidFill>
                      <a:srgbClr val="282842"/>
                    </a:solidFill>
                  </a:tcPr>
                </a:tc>
                <a:tc>
                  <a:txBody>
                    <a:bodyPr/>
                    <a:lstStyle/>
                    <a:p>
                      <a:pPr algn="l"/>
                      <a:r>
                        <a:rPr sz="900">
                          <a:solidFill>
                            <a:srgbClr val="FFFFFF"/>
                          </a:solidFill>
                        </a:rPr>
                        <a:t>fadvise(WILLNEED) on next N blocks while reading current</a:t>
                      </a:r>
                    </a:p>
                  </a:txBody>
                  <a:tcPr marL="76200" marR="76200" marT="38100" marB="38100" anchor="ctr">
                    <a:solidFill>
                      <a:srgbClr val="282842"/>
                    </a:solidFill>
                  </a:tcPr>
                </a:tc>
                <a:tc>
                  <a:txBody>
                    <a:bodyPr/>
                    <a:lstStyle/>
                    <a:p>
                      <a:pPr algn="l"/>
                      <a:r>
                        <a:rPr sz="900">
                          <a:solidFill>
                            <a:srgbClr val="FFFFFF"/>
                          </a:solidFill>
                        </a:rPr>
                        <a:t>Small</a:t>
                      </a:r>
                    </a:p>
                  </a:txBody>
                  <a:tcPr marL="76200" marR="76200" marT="38100" marB="38100" anchor="ctr">
                    <a:solidFill>
                      <a:srgbClr val="282842"/>
                    </a:solidFill>
                  </a:tcPr>
                </a:tc>
                <a:extLst>
                  <a:ext uri="{0D108BD9-81ED-4DB2-BD59-A6C34878D82A}">
                    <a16:rowId xmlns:a16="http://schemas.microsoft.com/office/drawing/2014/main" val="10004"/>
                  </a:ext>
                </a:extLst>
              </a:tr>
              <a:tr h="228600">
                <a:tc>
                  <a:txBody>
                    <a:bodyPr/>
                    <a:lstStyle/>
                    <a:p>
                      <a:pPr algn="l"/>
                      <a:r>
                        <a:rPr sz="900">
                          <a:solidFill>
                            <a:srgbClr val="FFFFFF"/>
                          </a:solidFill>
                        </a:rPr>
                        <a:t>Thread count range</a:t>
                      </a:r>
                    </a:p>
                  </a:txBody>
                  <a:tcPr marL="76200" marR="76200" marT="38100" marB="38100" anchor="ctr">
                    <a:solidFill>
                      <a:srgbClr val="22223A"/>
                    </a:solidFill>
                  </a:tcPr>
                </a:tc>
                <a:tc>
                  <a:txBody>
                    <a:bodyPr/>
                    <a:lstStyle/>
                    <a:p>
                      <a:pPr algn="l"/>
                      <a:r>
                        <a:rPr sz="900">
                          <a:solidFill>
                            <a:srgbClr val="FFFFFF"/>
                          </a:solidFill>
                        </a:rPr>
                        <a:t>Currently hardcoded [16,32,64] — open to 8-256</a:t>
                      </a:r>
                    </a:p>
                  </a:txBody>
                  <a:tcPr marL="76200" marR="76200" marT="38100" marB="38100" anchor="ctr">
                    <a:solidFill>
                      <a:srgbClr val="22223A"/>
                    </a:solidFill>
                  </a:tcPr>
                </a:tc>
                <a:tc>
                  <a:txBody>
                    <a:bodyPr/>
                    <a:lstStyle/>
                    <a:p>
                      <a:pPr algn="l"/>
                      <a:r>
                        <a:rPr sz="900">
                          <a:solidFill>
                            <a:srgbClr val="FFFFFF"/>
                          </a:solidFill>
                        </a:rPr>
                        <a:t>1 line</a:t>
                      </a:r>
                    </a:p>
                  </a:txBody>
                  <a:tcPr marL="76200" marR="76200" marT="38100" marB="38100" anchor="ctr">
                    <a:solidFill>
                      <a:srgbClr val="22223A"/>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48640" y="2606040"/>
            <a:ext cx="8046720" cy="228600"/>
          </a:xfrm>
          <a:prstGeom prst="rect">
            <a:avLst/>
          </a:prstGeom>
          <a:noFill/>
        </p:spPr>
        <p:txBody>
          <a:bodyPr wrap="none">
            <a:spAutoFit/>
          </a:bodyPr>
          <a:lstStyle/>
          <a:p>
            <a:pPr algn="l"/>
            <a:r>
              <a:rPr sz="1000" b="1">
                <a:solidFill>
                  <a:srgbClr val="FFA726"/>
                </a:solidFill>
              </a:rPr>
              <a:t>Expected gain: ~5-15% with right combination. Minimal effort.</a:t>
            </a:r>
          </a:p>
        </p:txBody>
      </p:sp>
      <p:sp>
        <p:nvSpPr>
          <p:cNvPr id="6" name="TextBox 5"/>
          <p:cNvSpPr txBox="1"/>
          <p:nvPr/>
        </p:nvSpPr>
        <p:spPr>
          <a:xfrm>
            <a:off x="548640" y="2926080"/>
            <a:ext cx="8046720" cy="274320"/>
          </a:xfrm>
          <a:prstGeom prst="rect">
            <a:avLst/>
          </a:prstGeom>
          <a:noFill/>
        </p:spPr>
        <p:txBody>
          <a:bodyPr wrap="none">
            <a:spAutoFit/>
          </a:bodyPr>
          <a:lstStyle/>
          <a:p>
            <a:pPr algn="l"/>
            <a:r>
              <a:rPr sz="1300" b="1">
                <a:solidFill>
                  <a:srgbClr val="66BB6A"/>
                </a:solidFill>
              </a:rPr>
              <a:t>B. New I/O Mechanisms</a:t>
            </a:r>
          </a:p>
        </p:txBody>
      </p:sp>
      <p:graphicFrame>
        <p:nvGraphicFramePr>
          <p:cNvPr id="7" name="Table 6"/>
          <p:cNvGraphicFramePr>
            <a:graphicFrameLocks noGrp="1"/>
          </p:cNvGraphicFramePr>
          <p:nvPr/>
        </p:nvGraphicFramePr>
        <p:xfrm>
          <a:off x="548640" y="3246120"/>
          <a:ext cx="8046720" cy="7772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194310">
                <a:tc>
                  <a:txBody>
                    <a:bodyPr/>
                    <a:lstStyle/>
                    <a:p>
                      <a:pPr algn="l"/>
                      <a:r>
                        <a:rPr sz="900" b="1">
                          <a:solidFill>
                            <a:srgbClr val="4FC3F7"/>
                          </a:solidFill>
                        </a:rPr>
                        <a:t>Approach</a:t>
                      </a:r>
                    </a:p>
                  </a:txBody>
                  <a:tcPr marL="76200" marR="76200" marT="38100" marB="38100" anchor="ctr">
                    <a:solidFill>
                      <a:srgbClr val="2A2A45"/>
                    </a:solidFill>
                  </a:tcPr>
                </a:tc>
                <a:tc>
                  <a:txBody>
                    <a:bodyPr/>
                    <a:lstStyle/>
                    <a:p>
                      <a:pPr algn="l"/>
                      <a:r>
                        <a:rPr sz="900" b="1">
                          <a:solidFill>
                            <a:srgbClr val="4FC3F7"/>
                          </a:solidFill>
                        </a:rPr>
                        <a:t>What it does</a:t>
                      </a:r>
                    </a:p>
                  </a:txBody>
                  <a:tcPr marL="76200" marR="76200" marT="38100" marB="38100" anchor="ctr">
                    <a:solidFill>
                      <a:srgbClr val="2A2A45"/>
                    </a:solidFill>
                  </a:tcPr>
                </a:tc>
                <a:tc>
                  <a:txBody>
                    <a:bodyPr/>
                    <a:lstStyle/>
                    <a:p>
                      <a:pPr algn="l"/>
                      <a:r>
                        <a:rPr sz="900" b="1">
                          <a:solidFill>
                            <a:srgbClr val="4FC3F7"/>
                          </a:solidFill>
                        </a:rPr>
                        <a:t>Expected read gain</a:t>
                      </a:r>
                    </a:p>
                  </a:txBody>
                  <a:tcPr marL="76200" marR="76200" marT="38100" marB="38100" anchor="ctr">
                    <a:solidFill>
                      <a:srgbClr val="2A2A45"/>
                    </a:solidFill>
                  </a:tcPr>
                </a:tc>
                <a:tc>
                  <a:txBody>
                    <a:bodyPr/>
                    <a:lstStyle/>
                    <a:p>
                      <a:pPr algn="l"/>
                      <a:r>
                        <a:rPr sz="900" b="1">
                          <a:solidFill>
                            <a:srgbClr val="4FC3F7"/>
                          </a:solidFill>
                        </a:rPr>
                        <a:t>Effort</a:t>
                      </a:r>
                    </a:p>
                  </a:txBody>
                  <a:tcPr marL="76200" marR="76200" marT="38100" marB="38100" anchor="ctr">
                    <a:solidFill>
                      <a:srgbClr val="2A2A45"/>
                    </a:solidFill>
                  </a:tcPr>
                </a:tc>
                <a:extLst>
                  <a:ext uri="{0D108BD9-81ED-4DB2-BD59-A6C34878D82A}">
                    <a16:rowId xmlns:a16="http://schemas.microsoft.com/office/drawing/2014/main" val="10000"/>
                  </a:ext>
                </a:extLst>
              </a:tr>
              <a:tr h="194310">
                <a:tc>
                  <a:txBody>
                    <a:bodyPr/>
                    <a:lstStyle/>
                    <a:p>
                      <a:pPr algn="l"/>
                      <a:r>
                        <a:rPr sz="900">
                          <a:solidFill>
                            <a:srgbClr val="FFFFFF"/>
                          </a:solidFill>
                        </a:rPr>
                        <a:t>io_uring</a:t>
                      </a:r>
                    </a:p>
                  </a:txBody>
                  <a:tcPr marL="76200" marR="76200" marT="38100" marB="38100" anchor="ctr">
                    <a:solidFill>
                      <a:srgbClr val="22223A"/>
                    </a:solidFill>
                  </a:tcPr>
                </a:tc>
                <a:tc>
                  <a:txBody>
                    <a:bodyPr/>
                    <a:lstStyle/>
                    <a:p>
                      <a:pPr algn="l"/>
                      <a:r>
                        <a:rPr sz="900">
                          <a:solidFill>
                            <a:srgbClr val="FFFFFF"/>
                          </a:solidFill>
                        </a:rPr>
                        <a:t>Batch syscalls, kernel-side scheduling</a:t>
                      </a:r>
                    </a:p>
                  </a:txBody>
                  <a:tcPr marL="76200" marR="76200" marT="38100" marB="38100" anchor="ctr">
                    <a:solidFill>
                      <a:srgbClr val="22223A"/>
                    </a:solidFill>
                  </a:tcPr>
                </a:tc>
                <a:tc>
                  <a:txBody>
                    <a:bodyPr/>
                    <a:lstStyle/>
                    <a:p>
                      <a:pPr algn="l"/>
                      <a:r>
                        <a:rPr sz="900">
                          <a:solidFill>
                            <a:srgbClr val="FFFFFF"/>
                          </a:solidFill>
                        </a:rPr>
                        <a:t>~10-20%</a:t>
                      </a:r>
                    </a:p>
                  </a:txBody>
                  <a:tcPr marL="76200" marR="76200" marT="38100" marB="38100" anchor="ctr">
                    <a:solidFill>
                      <a:srgbClr val="22223A"/>
                    </a:solidFill>
                  </a:tcPr>
                </a:tc>
                <a:tc>
                  <a:txBody>
                    <a:bodyPr/>
                    <a:lstStyle/>
                    <a:p>
                      <a:pPr algn="l"/>
                      <a:r>
                        <a:rPr sz="900">
                          <a:solidFill>
                            <a:srgbClr val="FFFFFF"/>
                          </a:solidFill>
                        </a:rPr>
                        <a:t>New backend</a:t>
                      </a:r>
                    </a:p>
                  </a:txBody>
                  <a:tcPr marL="76200" marR="76200" marT="38100" marB="38100" anchor="ctr">
                    <a:solidFill>
                      <a:srgbClr val="22223A"/>
                    </a:solidFill>
                  </a:tcPr>
                </a:tc>
                <a:extLst>
                  <a:ext uri="{0D108BD9-81ED-4DB2-BD59-A6C34878D82A}">
                    <a16:rowId xmlns:a16="http://schemas.microsoft.com/office/drawing/2014/main" val="10001"/>
                  </a:ext>
                </a:extLst>
              </a:tr>
              <a:tr h="194310">
                <a:tc>
                  <a:txBody>
                    <a:bodyPr/>
                    <a:lstStyle/>
                    <a:p>
                      <a:pPr algn="l"/>
                      <a:r>
                        <a:rPr sz="900">
                          <a:solidFill>
                            <a:srgbClr val="FFFFFF"/>
                          </a:solidFill>
                        </a:rPr>
                        <a:t>O_DIRECT</a:t>
                      </a:r>
                    </a:p>
                  </a:txBody>
                  <a:tcPr marL="76200" marR="76200" marT="38100" marB="38100" anchor="ctr">
                    <a:solidFill>
                      <a:srgbClr val="282842"/>
                    </a:solidFill>
                  </a:tcPr>
                </a:tc>
                <a:tc>
                  <a:txBody>
                    <a:bodyPr/>
                    <a:lstStyle/>
                    <a:p>
                      <a:pPr algn="l"/>
                      <a:r>
                        <a:rPr sz="900">
                          <a:solidFill>
                            <a:srgbClr val="FFFFFF"/>
                          </a:solidFill>
                        </a:rPr>
                        <a:t>Bypass page cache entirely</a:t>
                      </a:r>
                    </a:p>
                  </a:txBody>
                  <a:tcPr marL="76200" marR="76200" marT="38100" marB="38100" anchor="ctr">
                    <a:solidFill>
                      <a:srgbClr val="282842"/>
                    </a:solidFill>
                  </a:tcPr>
                </a:tc>
                <a:tc>
                  <a:txBody>
                    <a:bodyPr/>
                    <a:lstStyle/>
                    <a:p>
                      <a:pPr algn="l"/>
                      <a:r>
                        <a:rPr sz="900">
                          <a:solidFill>
                            <a:srgbClr val="FFFFFF"/>
                          </a:solidFill>
                        </a:rPr>
                        <a:t>~5-15%</a:t>
                      </a:r>
                    </a:p>
                  </a:txBody>
                  <a:tcPr marL="76200" marR="76200" marT="38100" marB="38100" anchor="ctr">
                    <a:solidFill>
                      <a:srgbClr val="282842"/>
                    </a:solidFill>
                  </a:tcPr>
                </a:tc>
                <a:tc>
                  <a:txBody>
                    <a:bodyPr/>
                    <a:lstStyle/>
                    <a:p>
                      <a:pPr algn="l"/>
                      <a:r>
                        <a:rPr sz="900">
                          <a:solidFill>
                            <a:srgbClr val="FFFFFF"/>
                          </a:solidFill>
                        </a:rPr>
                        <a:t>Flag + alignment</a:t>
                      </a:r>
                    </a:p>
                  </a:txBody>
                  <a:tcPr marL="76200" marR="76200" marT="38100" marB="38100" anchor="ctr">
                    <a:solidFill>
                      <a:srgbClr val="282842"/>
                    </a:solidFill>
                  </a:tcPr>
                </a:tc>
                <a:extLst>
                  <a:ext uri="{0D108BD9-81ED-4DB2-BD59-A6C34878D82A}">
                    <a16:rowId xmlns:a16="http://schemas.microsoft.com/office/drawing/2014/main" val="10002"/>
                  </a:ext>
                </a:extLst>
              </a:tr>
              <a:tr h="194310">
                <a:tc>
                  <a:txBody>
                    <a:bodyPr/>
                    <a:lstStyle/>
                    <a:p>
                      <a:pPr algn="l"/>
                      <a:r>
                        <a:rPr sz="900">
                          <a:solidFill>
                            <a:srgbClr val="FFFFFF"/>
                          </a:solidFill>
                        </a:rPr>
                        <a:t>io_uring + O_DIRECT</a:t>
                      </a:r>
                    </a:p>
                  </a:txBody>
                  <a:tcPr marL="76200" marR="76200" marT="38100" marB="38100" anchor="ctr">
                    <a:solidFill>
                      <a:srgbClr val="22223A"/>
                    </a:solidFill>
                  </a:tcPr>
                </a:tc>
                <a:tc>
                  <a:txBody>
                    <a:bodyPr/>
                    <a:lstStyle/>
                    <a:p>
                      <a:pPr algn="l"/>
                      <a:r>
                        <a:rPr sz="900">
                          <a:solidFill>
                            <a:srgbClr val="FFFFFF"/>
                          </a:solidFill>
                        </a:rPr>
                        <a:t>All combined</a:t>
                      </a:r>
                    </a:p>
                  </a:txBody>
                  <a:tcPr marL="76200" marR="76200" marT="38100" marB="38100" anchor="ctr">
                    <a:solidFill>
                      <a:srgbClr val="22223A"/>
                    </a:solidFill>
                  </a:tcPr>
                </a:tc>
                <a:tc>
                  <a:txBody>
                    <a:bodyPr/>
                    <a:lstStyle/>
                    <a:p>
                      <a:pPr algn="l"/>
                      <a:r>
                        <a:rPr sz="900">
                          <a:solidFill>
                            <a:srgbClr val="FFFFFF"/>
                          </a:solidFill>
                        </a:rPr>
                        <a:t>~15-30%</a:t>
                      </a:r>
                    </a:p>
                  </a:txBody>
                  <a:tcPr marL="76200" marR="76200" marT="38100" marB="38100" anchor="ctr">
                    <a:solidFill>
                      <a:srgbClr val="22223A"/>
                    </a:solidFill>
                  </a:tcPr>
                </a:tc>
                <a:tc>
                  <a:txBody>
                    <a:bodyPr/>
                    <a:lstStyle/>
                    <a:p>
                      <a:pPr algn="l"/>
                      <a:r>
                        <a:rPr sz="900">
                          <a:solidFill>
                            <a:srgbClr val="FFFFFF"/>
                          </a:solidFill>
                        </a:rPr>
                        <a:t>New backend</a:t>
                      </a:r>
                    </a:p>
                  </a:txBody>
                  <a:tcPr marL="76200" marR="76200" marT="38100" marB="38100" anchor="ctr">
                    <a:solidFill>
                      <a:srgbClr val="22223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TextBox 1"/>
          <p:cNvSpPr txBox="1"/>
          <p:nvPr/>
        </p:nvSpPr>
        <p:spPr>
          <a:xfrm>
            <a:off x="548640" y="228600"/>
            <a:ext cx="8046720" cy="594360"/>
          </a:xfrm>
          <a:prstGeom prst="rect">
            <a:avLst/>
          </a:prstGeom>
          <a:noFill/>
        </p:spPr>
        <p:txBody>
          <a:bodyPr wrap="square">
            <a:spAutoFit/>
          </a:bodyPr>
          <a:lstStyle/>
          <a:p>
            <a:pPr algn="l"/>
            <a:r>
              <a:rPr sz="2400" b="1">
                <a:solidFill>
                  <a:srgbClr val="4FC3F7"/>
                </a:solidFill>
              </a:rPr>
              <a:t>Auto-Tuning &amp; Roadmap</a:t>
            </a:r>
          </a:p>
        </p:txBody>
      </p:sp>
      <p:sp>
        <p:nvSpPr>
          <p:cNvPr id="3" name="TextBox 2"/>
          <p:cNvSpPr txBox="1"/>
          <p:nvPr/>
        </p:nvSpPr>
        <p:spPr>
          <a:xfrm>
            <a:off x="548640" y="822960"/>
            <a:ext cx="8046720" cy="731520"/>
          </a:xfrm>
          <a:prstGeom prst="rect">
            <a:avLst/>
          </a:prstGeom>
          <a:noFill/>
        </p:spPr>
        <p:txBody>
          <a:bodyPr wrap="square">
            <a:spAutoFit/>
          </a:bodyPr>
          <a:lstStyle/>
          <a:p>
            <a:pPr algn="l"/>
            <a:r>
              <a:rPr sz="1300" b="1">
                <a:solidFill>
                  <a:srgbClr val="4FC3F7"/>
                </a:solidFill>
              </a:rPr>
              <a:t>The tuning problem:</a:t>
            </a:r>
          </a:p>
          <a:p>
            <a:pPr algn="l">
              <a:spcBef>
                <a:spcPts val="400"/>
              </a:spcBef>
              <a:spcAft>
                <a:spcPts val="100"/>
              </a:spcAft>
            </a:pPr>
            <a:r>
              <a:rPr sz="1100" b="0">
                <a:solidFill>
                  <a:srgbClr val="FFFFFF"/>
                </a:solidFill>
              </a:rPr>
              <a:t>~15 tunable parameters across existing + new backends</a:t>
            </a:r>
          </a:p>
          <a:p>
            <a:pPr algn="l">
              <a:spcBef>
                <a:spcPts val="400"/>
              </a:spcBef>
              <a:spcAft>
                <a:spcPts val="100"/>
              </a:spcAft>
            </a:pPr>
            <a:r>
              <a:rPr sz="1100" b="0">
                <a:solidFill>
                  <a:srgbClr val="FFFFFF"/>
                </a:solidFill>
              </a:rPr>
              <a:t>Optimal values depend on hardware and interact non-trivially</a:t>
            </a:r>
          </a:p>
          <a:p>
            <a:pPr algn="l">
              <a:spcBef>
                <a:spcPts val="400"/>
              </a:spcBef>
              <a:spcAft>
                <a:spcPts val="100"/>
              </a:spcAft>
            </a:pPr>
            <a:r>
              <a:rPr sz="1100" b="0">
                <a:solidFill>
                  <a:srgbClr val="FFFFFF"/>
                </a:solidFill>
              </a:rPr>
              <a:t>Manual tuning doesn’t scale across deployment targets</a:t>
            </a:r>
          </a:p>
        </p:txBody>
      </p:sp>
      <p:graphicFrame>
        <p:nvGraphicFramePr>
          <p:cNvPr id="4" name="Table 3"/>
          <p:cNvGraphicFramePr>
            <a:graphicFrameLocks noGrp="1"/>
          </p:cNvGraphicFramePr>
          <p:nvPr/>
        </p:nvGraphicFramePr>
        <p:xfrm>
          <a:off x="548640" y="1874519"/>
          <a:ext cx="8046720" cy="64008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182880">
                <a:tc>
                  <a:txBody>
                    <a:bodyPr/>
                    <a:lstStyle/>
                    <a:p>
                      <a:pPr algn="l"/>
                      <a:r>
                        <a:rPr sz="900" b="1">
                          <a:solidFill>
                            <a:srgbClr val="4FC3F7"/>
                          </a:solidFill>
                        </a:rPr>
                        <a:t>Method</a:t>
                      </a:r>
                    </a:p>
                  </a:txBody>
                  <a:tcPr marL="76200" marR="76200" marT="38100" marB="38100" anchor="ctr">
                    <a:solidFill>
                      <a:srgbClr val="2A2A45"/>
                    </a:solidFill>
                  </a:tcPr>
                </a:tc>
                <a:tc>
                  <a:txBody>
                    <a:bodyPr/>
                    <a:lstStyle/>
                    <a:p>
                      <a:pPr algn="l"/>
                      <a:r>
                        <a:rPr sz="900" b="1">
                          <a:solidFill>
                            <a:srgbClr val="4FC3F7"/>
                          </a:solidFill>
                        </a:rPr>
                        <a:t>What it tunes</a:t>
                      </a:r>
                    </a:p>
                  </a:txBody>
                  <a:tcPr marL="76200" marR="76200" marT="38100" marB="38100" anchor="ctr">
                    <a:solidFill>
                      <a:srgbClr val="2A2A45"/>
                    </a:solidFill>
                  </a:tcPr>
                </a:tc>
                <a:tc>
                  <a:txBody>
                    <a:bodyPr/>
                    <a:lstStyle/>
                    <a:p>
                      <a:pPr algn="l"/>
                      <a:r>
                        <a:rPr sz="900" b="1">
                          <a:solidFill>
                            <a:srgbClr val="4FC3F7"/>
                          </a:solidFill>
                        </a:rPr>
                        <a:t>Best for</a:t>
                      </a:r>
                    </a:p>
                  </a:txBody>
                  <a:tcPr marL="76200" marR="76200" marT="38100" marB="38100" anchor="ctr">
                    <a:solidFill>
                      <a:srgbClr val="2A2A45"/>
                    </a:solidFill>
                  </a:tcPr>
                </a:tc>
                <a:extLst>
                  <a:ext uri="{0D108BD9-81ED-4DB2-BD59-A6C34878D82A}">
                    <a16:rowId xmlns:a16="http://schemas.microsoft.com/office/drawing/2014/main" val="10000"/>
                  </a:ext>
                </a:extLst>
              </a:tr>
              <a:tr h="182880">
                <a:tc>
                  <a:txBody>
                    <a:bodyPr/>
                    <a:lstStyle/>
                    <a:p>
                      <a:pPr algn="l"/>
                      <a:r>
                        <a:rPr sz="900">
                          <a:solidFill>
                            <a:srgbClr val="FFFFFF"/>
                          </a:solidFill>
                        </a:rPr>
                        <a:t>Bayesian (Optuna)</a:t>
                      </a:r>
                    </a:p>
                  </a:txBody>
                  <a:tcPr marL="76200" marR="76200" marT="38100" marB="38100" anchor="ctr">
                    <a:solidFill>
                      <a:srgbClr val="22223A"/>
                    </a:solidFill>
                  </a:tcPr>
                </a:tc>
                <a:tc>
                  <a:txBody>
                    <a:bodyPr/>
                    <a:lstStyle/>
                    <a:p>
                      <a:pPr algn="l"/>
                      <a:r>
                        <a:rPr sz="900">
                          <a:solidFill>
                            <a:srgbClr val="FFFFFF"/>
                          </a:solidFill>
                        </a:rPr>
                        <a:t>All parameters</a:t>
                      </a:r>
                    </a:p>
                  </a:txBody>
                  <a:tcPr marL="76200" marR="76200" marT="38100" marB="38100" anchor="ctr">
                    <a:solidFill>
                      <a:srgbClr val="22223A"/>
                    </a:solidFill>
                  </a:tcPr>
                </a:tc>
                <a:tc>
                  <a:txBody>
                    <a:bodyPr/>
                    <a:lstStyle/>
                    <a:p>
                      <a:pPr algn="l"/>
                      <a:r>
                        <a:rPr sz="900">
                          <a:solidFill>
                            <a:srgbClr val="FFFFFF"/>
                          </a:solidFill>
                        </a:rPr>
                        <a:t>Per-machine optimal config</a:t>
                      </a:r>
                    </a:p>
                  </a:txBody>
                  <a:tcPr marL="76200" marR="76200" marT="38100" marB="38100" anchor="ctr">
                    <a:solidFill>
                      <a:srgbClr val="22223A"/>
                    </a:solidFill>
                  </a:tcPr>
                </a:tc>
                <a:extLst>
                  <a:ext uri="{0D108BD9-81ED-4DB2-BD59-A6C34878D82A}">
                    <a16:rowId xmlns:a16="http://schemas.microsoft.com/office/drawing/2014/main" val="10001"/>
                  </a:ext>
                </a:extLst>
              </a:tr>
              <a:tr h="182880">
                <a:tc>
                  <a:txBody>
                    <a:bodyPr/>
                    <a:lstStyle/>
                    <a:p>
                      <a:pPr algn="l"/>
                      <a:r>
                        <a:rPr sz="900">
                          <a:solidFill>
                            <a:srgbClr val="FFFFFF"/>
                          </a:solidFill>
                        </a:rPr>
                        <a:t>Evolutionary (OpenEvolve)</a:t>
                      </a:r>
                    </a:p>
                  </a:txBody>
                  <a:tcPr marL="76200" marR="76200" marT="38100" marB="38100" anchor="ctr">
                    <a:solidFill>
                      <a:srgbClr val="282842"/>
                    </a:solidFill>
                  </a:tcPr>
                </a:tc>
                <a:tc>
                  <a:txBody>
                    <a:bodyPr/>
                    <a:lstStyle/>
                    <a:p>
                      <a:pPr algn="l"/>
                      <a:r>
                        <a:rPr sz="900">
                          <a:solidFill>
                            <a:srgbClr val="FFFFFF"/>
                          </a:solidFill>
                        </a:rPr>
                        <a:t>Parameters + code strategies</a:t>
                      </a:r>
                    </a:p>
                  </a:txBody>
                  <a:tcPr marL="76200" marR="76200" marT="38100" marB="38100" anchor="ctr">
                    <a:solidFill>
                      <a:srgbClr val="282842"/>
                    </a:solidFill>
                  </a:tcPr>
                </a:tc>
                <a:tc>
                  <a:txBody>
                    <a:bodyPr/>
                    <a:lstStyle/>
                    <a:p>
                      <a:pPr algn="l"/>
                      <a:r>
                        <a:rPr sz="900">
                          <a:solidFill>
                            <a:srgbClr val="FFFFFF"/>
                          </a:solidFill>
                        </a:rPr>
                        <a:t>Discovering new I/O patterns</a:t>
                      </a:r>
                    </a:p>
                  </a:txBody>
                  <a:tcPr marL="76200" marR="76200" marT="38100" marB="38100" anchor="ctr">
                    <a:solidFill>
                      <a:srgbClr val="282842"/>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548640" y="2651760"/>
            <a:ext cx="8046720" cy="1487587"/>
          </a:xfrm>
          <a:prstGeom prst="rect">
            <a:avLst/>
          </a:prstGeom>
          <a:noFill/>
        </p:spPr>
        <p:txBody>
          <a:bodyPr wrap="square">
            <a:spAutoFit/>
          </a:bodyPr>
          <a:lstStyle/>
          <a:p>
            <a:pPr algn="l"/>
            <a:r>
              <a:rPr sz="1300" b="1">
                <a:solidFill>
                  <a:srgbClr val="66BB6A"/>
                </a:solidFill>
              </a:rPr>
              <a:t>Roadmap</a:t>
            </a:r>
            <a:r>
              <a:rPr sz="1300" b="1" dirty="0">
                <a:solidFill>
                  <a:srgbClr val="66BB6A"/>
                </a:solidFill>
              </a:rPr>
              <a:t>:</a:t>
            </a:r>
          </a:p>
          <a:p>
            <a:pPr>
              <a:spcBef>
                <a:spcPts val="300"/>
              </a:spcBef>
              <a:spcAft>
                <a:spcPts val="100"/>
              </a:spcAft>
            </a:pPr>
            <a:r>
              <a:rPr sz="1100" b="1" dirty="0">
                <a:solidFill>
                  <a:srgbClr val="FFA726"/>
                </a:solidFill>
              </a:rPr>
              <a:t>1. </a:t>
            </a:r>
            <a:r>
              <a:rPr sz="1100" dirty="0">
                <a:solidFill>
                  <a:srgbClr val="FFFFFF"/>
                </a:solidFill>
              </a:rPr>
              <a:t>Add tunable parameters + POSIX hints to existing C++ backend</a:t>
            </a:r>
            <a:r>
              <a:rPr sz="900" dirty="0">
                <a:solidFill>
                  <a:srgbClr val="BBBBBB"/>
                </a:solidFill>
              </a:rPr>
              <a:t>  (quick win)</a:t>
            </a:r>
          </a:p>
          <a:p>
            <a:pPr>
              <a:spcBef>
                <a:spcPts val="300"/>
              </a:spcBef>
              <a:spcAft>
                <a:spcPts val="100"/>
              </a:spcAft>
            </a:pPr>
            <a:r>
              <a:rPr sz="1100" b="1" dirty="0">
                <a:solidFill>
                  <a:srgbClr val="FFA726"/>
                </a:solidFill>
              </a:rPr>
              <a:t>2. </a:t>
            </a:r>
            <a:r>
              <a:rPr sz="1100" dirty="0">
                <a:solidFill>
                  <a:srgbClr val="FFFFFF"/>
                </a:solidFill>
              </a:rPr>
              <a:t>Build </a:t>
            </a:r>
            <a:r>
              <a:rPr sz="1100" dirty="0" err="1">
                <a:solidFill>
                  <a:srgbClr val="FFFFFF"/>
                </a:solidFill>
              </a:rPr>
              <a:t>io_uring</a:t>
            </a:r>
            <a:r>
              <a:rPr sz="1100" dirty="0">
                <a:solidFill>
                  <a:srgbClr val="FFFFFF"/>
                </a:solidFill>
              </a:rPr>
              <a:t> + O_DIRECT backend</a:t>
            </a:r>
            <a:r>
              <a:rPr sz="900" dirty="0">
                <a:solidFill>
                  <a:srgbClr val="BBBBBB"/>
                </a:solidFill>
              </a:rPr>
              <a:t>  (main investment)</a:t>
            </a:r>
          </a:p>
          <a:p>
            <a:pPr>
              <a:spcBef>
                <a:spcPts val="300"/>
              </a:spcBef>
              <a:spcAft>
                <a:spcPts val="100"/>
              </a:spcAft>
            </a:pPr>
            <a:r>
              <a:rPr sz="1100" b="1" dirty="0">
                <a:solidFill>
                  <a:srgbClr val="FFA726"/>
                </a:solidFill>
              </a:rPr>
              <a:t>3. </a:t>
            </a:r>
            <a:r>
              <a:rPr sz="1100" dirty="0">
                <a:solidFill>
                  <a:srgbClr val="FFFFFF"/>
                </a:solidFill>
              </a:rPr>
              <a:t>Bayesian auto-tuning per deployment target (</a:t>
            </a:r>
            <a:r>
              <a:rPr sz="1100" dirty="0" err="1">
                <a:solidFill>
                  <a:srgbClr val="FFFFFF"/>
                </a:solidFill>
              </a:rPr>
              <a:t>Optuna</a:t>
            </a:r>
            <a:r>
              <a:rPr sz="1100" dirty="0">
                <a:solidFill>
                  <a:srgbClr val="FFFFFF"/>
                </a:solidFill>
              </a:rPr>
              <a:t>)</a:t>
            </a:r>
            <a:r>
              <a:rPr sz="900" dirty="0">
                <a:solidFill>
                  <a:srgbClr val="BBBBBB"/>
                </a:solidFill>
              </a:rPr>
              <a:t>  (optimal config)</a:t>
            </a:r>
          </a:p>
          <a:p>
            <a:pPr>
              <a:spcBef>
                <a:spcPts val="300"/>
              </a:spcBef>
              <a:spcAft>
                <a:spcPts val="100"/>
              </a:spcAft>
            </a:pPr>
            <a:r>
              <a:rPr sz="1100" b="1" dirty="0">
                <a:solidFill>
                  <a:srgbClr val="FFA726"/>
                </a:solidFill>
              </a:rPr>
              <a:t>4. </a:t>
            </a:r>
            <a:r>
              <a:rPr sz="1100" dirty="0">
                <a:solidFill>
                  <a:srgbClr val="FFFFFF"/>
                </a:solidFill>
              </a:rPr>
              <a:t>Evolutionary search for code-level strategies (</a:t>
            </a:r>
            <a:r>
              <a:rPr sz="1100" dirty="0" err="1">
                <a:solidFill>
                  <a:srgbClr val="FFFFFF"/>
                </a:solidFill>
              </a:rPr>
              <a:t>OpenEvolve</a:t>
            </a:r>
            <a:r>
              <a:rPr sz="1100" dirty="0">
                <a:solidFill>
                  <a:srgbClr val="FFFFFF"/>
                </a:solidFill>
              </a:rPr>
              <a:t>)</a:t>
            </a:r>
            <a:r>
              <a:rPr sz="900" dirty="0">
                <a:solidFill>
                  <a:srgbClr val="BBBBBB"/>
                </a:solidFill>
              </a:rPr>
              <a:t>  (exploration)</a:t>
            </a:r>
          </a:p>
          <a:p>
            <a:pPr algn="l">
              <a:spcBef>
                <a:spcPts val="1000"/>
              </a:spcBef>
              <a:spcAft>
                <a:spcPts val="100"/>
              </a:spcAft>
            </a:pPr>
            <a:r>
              <a:rPr sz="1200" b="1" dirty="0">
                <a:solidFill>
                  <a:srgbClr val="FFA726"/>
                </a:solidFill>
              </a:rPr>
              <a:t>Build once, auto-tune everywhere.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3167</Words>
  <Application>Microsoft Office PowerPoint</Application>
  <PresentationFormat>On-screen Show (16:9)</PresentationFormat>
  <Paragraphs>245</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YEVGENY YAROKER</cp:lastModifiedBy>
  <cp:revision>2</cp:revision>
  <dcterms:created xsi:type="dcterms:W3CDTF">2013-01-27T09:14:16Z</dcterms:created>
  <dcterms:modified xsi:type="dcterms:W3CDTF">2026-03-29T19:45:17Z</dcterms:modified>
  <cp:category/>
</cp:coreProperties>
</file>