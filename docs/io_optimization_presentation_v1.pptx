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607" autoAdjust="0"/>
  </p:normalViewPr>
  <p:slideViewPr>
    <p:cSldViewPr snapToGrid="0" snapToObjects="1">
      <p:cViewPr varScale="1">
        <p:scale>
          <a:sx n="169" d="100"/>
          <a:sy n="169" d="100"/>
        </p:scale>
        <p:origin x="1554"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292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 Context &amp; Goal</a:t>
            </a:r>
          </a:p>
          <a:p>
            <a:endParaRPr/>
          </a:p>
          <a:p>
            <a:r>
              <a:t>- Explain briefly why we need offload: KV cache grows with context length, doesn't fit in GPU/CPU memory for large batch sizes.</a:t>
            </a:r>
          </a:p>
          <a:p>
            <a:endParaRPr/>
          </a:p>
          <a:p>
            <a:r>
              <a:t>- Block size depends on model: LLaMA-70B ~52MB, LLaMA-13B ~13MB, quantized ~3-7MB.</a:t>
            </a:r>
          </a:p>
          <a:p>
            <a:endParaRPr/>
          </a:p>
          <a:p>
            <a:r>
              <a:t>- Credit the other team's work — solid foundation, well-structured benchmarks with cache cleaning between phases to measure true I/O not cached reads.</a:t>
            </a:r>
          </a:p>
          <a:p>
            <a:endParaRPr/>
          </a:p>
          <a:p>
            <a:r>
              <a:t>- Mention the atomic write pattern all backends use (temp file + rename) — important for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2: Current Results (baseline)</a:t>
            </a:r>
          </a:p>
          <a:p>
            <a:endParaRPr/>
          </a:p>
          <a:p>
            <a:r>
              <a:t>- tmpfs (/dev/shm) — a filesystem that lives entirely in RAM, not on any physical storage device. Reads and writes go directly to/from memory, no disk involved. This gives us the theoretical upper bound for I/O throughput — any real storage (NVMe, Spectrum Scale) will be slower. We benchmark on tmpfs first to measure software overhead in isolation, without storage hardware being the bottleneck. On real storage, the same software optimizations will have proportionally larger impact since there's more overhead to eliminate.</a:t>
            </a:r>
          </a:p>
          <a:p>
            <a:endParaRPr/>
          </a:p>
          <a:p>
            <a:r>
              <a:t>- Explain why C++ beats Python: GIL release during I/O, native thread pool vs Python's ThreadPoolExecutor overhead.</a:t>
            </a:r>
          </a:p>
          <a:p>
            <a:endParaRPr/>
          </a:p>
          <a:p>
            <a:r>
              <a:t>- NIXL (NVIDIA Interconnect eXchange Library) — an NVIDIA library designed for high-performance data transfers, primarily GPU-to-GPU and RDMA across nodes. It supports a POSIX file backend, which is what's tested here. The library uses explicit memory registration (pinning regions for DMA) and a descriptor-based transfer model. It underperforms in this benchmark because file I/O isn't its primary use case — it's optimized for network/GPU transfers. The busy-polling completion model also wastes CPU cycles compared to blocking reads. We included it because it's being evaluated within the LLMD ecosystem for other transfer paths.</a:t>
            </a:r>
          </a:p>
          <a:p>
            <a:endParaRPr/>
          </a:p>
          <a:p>
            <a:r>
              <a:t>- The plateau at 16-32MB suggests we're hitting syscall overhead and page cache copy limits, not device bandwidth — room to improve.</a:t>
            </a:r>
          </a:p>
          <a:p>
            <a:endParaRPr/>
          </a:p>
          <a:p>
            <a:r>
              <a:t>- Mention these are averages over 5 iterations with 100GB cache cleaning between write and read phases.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Slide 3: How Linux I/O Works &amp; Where We Can Improve</a:t>
            </a:r>
          </a:p>
          <a:p>
            <a:endParaRPr dirty="0"/>
          </a:p>
          <a:p>
            <a:r>
              <a:rPr dirty="0"/>
              <a:t>User Buffer — this is your application's memory where the KV cache data lives. In our case, a pinned </a:t>
            </a:r>
            <a:r>
              <a:rPr dirty="0" err="1"/>
              <a:t>PyTorch</a:t>
            </a:r>
            <a:r>
              <a:rPr dirty="0"/>
              <a:t> tensor. "Pinned" means we asked the OS to never swap it to disk — it stays in physical RAM. This is where data starts (for writes) or ends up (for reads).</a:t>
            </a:r>
          </a:p>
          <a:p>
            <a:endParaRPr dirty="0"/>
          </a:p>
          <a:p>
            <a:r>
              <a:rPr dirty="0" err="1"/>
              <a:t>Syscall</a:t>
            </a:r>
            <a:r>
              <a:rPr dirty="0"/>
              <a:t> (system call) — when your program calls </a:t>
            </a:r>
            <a:r>
              <a:rPr dirty="0" err="1"/>
              <a:t>pread</a:t>
            </a:r>
            <a:r>
              <a:rPr dirty="0"/>
              <a:t>(), it can't talk to the storage device directly. It has to ask the kernel to do it. This involves a "context switch" — the CPU saves your program's state, switches to kernel mode, does the work, then switches back. Think of it like going through a security checkpoint every time you want to access the warehouse. Each checkpoint takes ~1-2 microseconds. Sounds tiny, but with 1000 blocks that's 1-2 milliseconds of pure overhead just for "permission to enter."</a:t>
            </a:r>
          </a:p>
          <a:p>
            <a:endParaRPr dirty="0"/>
          </a:p>
          <a:p>
            <a:r>
              <a:rPr dirty="0"/>
              <a:t>Page Cache — the kernel doesn't read from disk directly into your buffer. It reads into its own memory area first (the page cache), then copies to your buffer. Why? Because if another program (or you) reads the same file again, the kernel can serve it from cache instantly. It's like a library that photocopies every book you request — you get the photocopy, the original stays on the shelf for the next person. Great for general use, but for our workload we write each KV block once and read it once. We're paying for a photocopy we'll never reuse.</a:t>
            </a:r>
          </a:p>
          <a:p>
            <a:endParaRPr dirty="0"/>
          </a:p>
          <a:p>
            <a:r>
              <a:rPr dirty="0"/>
              <a:t>Block Layer — the kernel's I/O scheduler. It receives I/O requests and decides what order to send them to the device. It can merge adjacent requests, reorder for optimal seek patterns, or batch submissions. The problem: it doesn't know our access pattern unless we tell it.</a:t>
            </a:r>
          </a:p>
          <a:p>
            <a:endParaRPr dirty="0"/>
          </a:p>
          <a:p>
            <a:r>
              <a:rPr dirty="0"/>
              <a:t>Device Driver / Storage — the actual hardware communication. </a:t>
            </a:r>
            <a:r>
              <a:rPr dirty="0" err="1"/>
              <a:t>NVMe</a:t>
            </a:r>
            <a:r>
              <a:rPr dirty="0"/>
              <a:t> drives have their own internal queue (up to 64K outstanding commands). The faster we can fill this queue, the more the drive can parallelize internally. With </a:t>
            </a:r>
            <a:r>
              <a:rPr dirty="0" err="1"/>
              <a:t>pread</a:t>
            </a:r>
            <a:r>
              <a:rPr dirty="0"/>
              <a:t> + threads, each thread submits one request at a time. With </a:t>
            </a:r>
            <a:r>
              <a:rPr dirty="0" err="1"/>
              <a:t>io_uring</a:t>
            </a:r>
            <a:r>
              <a:rPr dirty="0"/>
              <a:t>, we can flood the device queue with hundreds of requests in one batch.</a:t>
            </a:r>
          </a:p>
          <a:p>
            <a:endParaRPr dirty="0"/>
          </a:p>
          <a:p>
            <a:r>
              <a:rPr dirty="0" err="1"/>
              <a:t>io_uring</a:t>
            </a:r>
            <a:r>
              <a:rPr dirty="0"/>
              <a:t> explained — traditional I/O requires a </a:t>
            </a:r>
            <a:r>
              <a:rPr dirty="0" err="1"/>
              <a:t>syscall</a:t>
            </a:r>
            <a:r>
              <a:rPr dirty="0"/>
              <a:t> per operation: your program calls </a:t>
            </a:r>
            <a:r>
              <a:rPr dirty="0" err="1"/>
              <a:t>pread</a:t>
            </a:r>
            <a:r>
              <a:rPr dirty="0"/>
              <a:t>(), CPU switches to kernel mode, kernel does the I/O, switches back. </a:t>
            </a:r>
            <a:r>
              <a:rPr dirty="0" err="1"/>
              <a:t>io_uring</a:t>
            </a:r>
            <a:r>
              <a:rPr dirty="0"/>
              <a:t> replaces this with two shared memory ring buffers between your program and the kernel: a submission queue (SQ) where you drop I/O requests, and a completion queue (CQ) where the kernel drops results. You can fill the SQ with hundreds of read requests and notify the kernel once — or with SQPOLL mode, a dedicated kernel thread watches the SQ continuously, so you don't even need that one notification. The kernel then processes all requests with optimal ordering and fills the CQ as they complete. Your program polls the CQ for results. No context switches per operation, no per-request </a:t>
            </a:r>
            <a:r>
              <a:rPr dirty="0" err="1"/>
              <a:t>syscall</a:t>
            </a:r>
            <a:r>
              <a:rPr dirty="0"/>
              <a:t> overhead. This is why databases like </a:t>
            </a:r>
            <a:r>
              <a:rPr dirty="0" err="1"/>
              <a:t>ScyllaDB</a:t>
            </a:r>
            <a:r>
              <a:rPr dirty="0"/>
              <a:t> and </a:t>
            </a:r>
            <a:r>
              <a:rPr dirty="0" err="1"/>
              <a:t>TigerBeetle</a:t>
            </a:r>
            <a:r>
              <a:rPr dirty="0"/>
              <a:t> use it — it was designed specifically for high-throughput I/O workloads. Available since Linux 5.1 (2019), mature and well-tested.</a:t>
            </a:r>
          </a:p>
          <a:p>
            <a:endParaRPr dirty="0"/>
          </a:p>
          <a:p>
            <a:r>
              <a:rPr dirty="0"/>
              <a:t>O_DIRECT explained — normally when you read a file, data travels: storage -&gt; kernel page cache -&gt; your buffer (two copies). O_DIRECT tells the kernel "skip your cache, transfer directly into my buffer." This eliminates one full </a:t>
            </a:r>
            <a:r>
              <a:rPr dirty="0" err="1"/>
              <a:t>memcpy</a:t>
            </a:r>
            <a:r>
              <a:rPr dirty="0"/>
              <a:t> — for a 50MB block, that's 50MB of unnecessary copying saved. The tradeoff: your buffer must be aligned to 4K boundaries (the storage sector size), and you lose the benefit of the page cache for repeated reads. For our workload (read once into KV cache) there's no benefit to caching, so O_DIRECT is pure win. Important caveat: O_DIRECT doesn't apply on </a:t>
            </a:r>
            <a:r>
              <a:rPr dirty="0" err="1"/>
              <a:t>tmpfs</a:t>
            </a:r>
            <a:r>
              <a:rPr dirty="0"/>
              <a:t> since </a:t>
            </a:r>
            <a:r>
              <a:rPr dirty="0" err="1"/>
              <a:t>tmpfs</a:t>
            </a:r>
            <a:r>
              <a:rPr dirty="0"/>
              <a:t> is already RAM — this optimization only matters on real storage devices (</a:t>
            </a:r>
            <a:r>
              <a:rPr dirty="0" err="1"/>
              <a:t>NVMe</a:t>
            </a:r>
            <a:r>
              <a:rPr dirty="0"/>
              <a:t>, Spectrum Scale).</a:t>
            </a:r>
          </a:p>
          <a:p>
            <a:endParaRPr dirty="0"/>
          </a:p>
          <a:p>
            <a:r>
              <a:rPr dirty="0" err="1"/>
              <a:t>posix_fadvise</a:t>
            </a:r>
            <a:r>
              <a:rPr dirty="0"/>
              <a:t> explained — a single </a:t>
            </a:r>
            <a:r>
              <a:rPr dirty="0" err="1"/>
              <a:t>syscall</a:t>
            </a:r>
            <a:r>
              <a:rPr dirty="0"/>
              <a:t> after opening a file that tells the kernel how you plan to access it. POSIX_FADV_SEQUENTIAL says "I'm reading front to back" — the kernel doubles or quadruples its readahead window, pre-loading data before you ask for it. POSIX_FADV_WILLNEED says "I'll need this data soon, start loading it now" — the kernel begins background I/O immediately. For our workload, we know exactly which blocks we'll need, so these hints let the storage device start working before our </a:t>
            </a:r>
            <a:r>
              <a:rPr dirty="0" err="1"/>
              <a:t>pread</a:t>
            </a:r>
            <a:r>
              <a:rPr dirty="0"/>
              <a:t>() call happens. The kernel may ignore hints under memory pressure, but they cost essentially nothing to provide. Currently our code gives zero hints — the kernel is guessing our pattern.</a:t>
            </a:r>
          </a:p>
          <a:p>
            <a:endParaRPr dirty="0"/>
          </a:p>
          <a:p>
            <a:r>
              <a:rPr dirty="0"/>
              <a:t>Why combined is the ceiling — </a:t>
            </a:r>
            <a:r>
              <a:rPr dirty="0" err="1"/>
              <a:t>io_uring</a:t>
            </a:r>
            <a:r>
              <a:rPr dirty="0"/>
              <a:t> + O_DIRECT together means: no </a:t>
            </a:r>
            <a:r>
              <a:rPr dirty="0" err="1"/>
              <a:t>syscall</a:t>
            </a:r>
            <a:r>
              <a:rPr dirty="0"/>
              <a:t> overhead (ring buffer), no page cache copy (direct transfer), and the kernel optimally schedules all requests. The only remaining bottleneck is the physical storage device itself. Everything above the device in the software stack is either eliminated or minimized.</a:t>
            </a:r>
          </a:p>
          <a:p>
            <a:endParaRPr dirty="0"/>
          </a:p>
          <a:p>
            <a:r>
              <a:rPr dirty="0"/>
              <a:t>Analogy for the full picture: Current approach (</a:t>
            </a:r>
            <a:r>
              <a:rPr dirty="0" err="1"/>
              <a:t>pread</a:t>
            </a:r>
            <a:r>
              <a:rPr dirty="0"/>
              <a:t>): You go to a warehouse. For each box you need, you walk to the security desk (</a:t>
            </a:r>
            <a:r>
              <a:rPr dirty="0" err="1"/>
              <a:t>syscall</a:t>
            </a:r>
            <a:r>
              <a:rPr dirty="0"/>
              <a:t>), they photocopy your request (page cache), then fetch the box. 1000 boxes = 1000 trips to the security desk. </a:t>
            </a:r>
            <a:r>
              <a:rPr dirty="0" err="1"/>
              <a:t>io_uring</a:t>
            </a:r>
            <a:r>
              <a:rPr dirty="0"/>
              <a:t> + O_DIRECT: You hand the warehouse a list of all 1000 boxes at once (</a:t>
            </a:r>
            <a:r>
              <a:rPr dirty="0" err="1"/>
              <a:t>io_uring</a:t>
            </a:r>
            <a:r>
              <a:rPr dirty="0"/>
              <a:t>). They deliver directly to your truck without photocopying (O_DIRECT). One trip, no unnecessary copies.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4: Optimization Approaches</a:t>
            </a:r>
          </a:p>
          <a:p>
            <a:endParaRPr/>
          </a:p>
          <a:p>
            <a:r>
              <a:t>Section A — parameter explanations:</a:t>
            </a:r>
          </a:p>
          <a:p>
            <a:endParaRPr/>
          </a:p>
          <a:p>
            <a:r>
              <a:t>O_NOATIME — every time Linux opens a file for reading, it updates the file's "last accessed" timestamp in the filesystem metadata. This is a small write operation for every read — completely useless for our workload. O_NOATIME flag tells the OS to skip this update. It's one character added to the open() call, zero downside.</a:t>
            </a:r>
          </a:p>
          <a:p>
            <a:endParaRPr/>
          </a:p>
          <a:p>
            <a:r>
              <a:t>posix_fadvise — after opening a file, we can tell the kernel how we plan to read it. POSIX_FADV_SEQUENTIAL tells it "I'm reading front to back" — the kernel enables aggressive readahead, pre-loading the next chunks before we ask. POSIX_FADV_WILLNEED says "I need this data soon, start loading it into page cache now." For our workload where we know which blocks we'll need, this lets the storage device start working before our pread() call even happens. Currently our code gives the kernel zero hints — it's guessing.</a:t>
            </a:r>
          </a:p>
          <a:p>
            <a:endParaRPr/>
          </a:p>
          <a:p>
            <a:r>
              <a:t>I/O chunk size — our current code calls pread(fd, buffer, 50MB, offset) — asking the kernel to read the entire block in one syscall. But the kernel may internally break this into smaller transfers. Different storage systems have different optimal transfer sizes — a GPFS filesystem with 4MB block size might perform better with 4MB-aligned reads than one giant 50MB read. A tunable chunk size (e.g., 256KB, 1MB, 4MB) within the pread loop lets us find what the storage controller handles most efficiently.</a:t>
            </a:r>
          </a:p>
          <a:p>
            <a:endParaRPr/>
          </a:p>
          <a:p>
            <a:r>
              <a:t>Prefetch depth — while we're reading block N, we call posix_fadvise(WILLNEED) on blocks N+1, N+2, ..., N+K. This tells the kernel to start loading those blocks from storage into memory while we're still processing the current one. The depth K controls how far ahead we look. Too small: the next block isn't ready when we need it. Too large: we waste memory loading blocks we won't need for a while. The optimal value depends on how fast the storage is relative to our processing — faster storage needs less prefetch.</a:t>
            </a:r>
          </a:p>
          <a:p>
            <a:endParaRPr/>
          </a:p>
          <a:p>
            <a:r>
              <a:t>Thread count range — currently hardcoded to test [16, 32, 64]. But the optimal thread count depends on the storage. A local NVMe might peak at 32 threads, while a parallel filesystem like Spectrum Scale (where data is striped across many servers) could benefit from 128 or 256 threads to keep all servers busy. Conversely, on a slow device, too many threads cause contention and hurt performance — 8 might be better than 64. We need to open up the search range to find the real optimum.</a:t>
            </a:r>
          </a:p>
          <a:p>
            <a:endParaRPr/>
          </a:p>
          <a:p>
            <a:r>
              <a:t>Section B — new mechanisms:</a:t>
            </a:r>
          </a:p>
          <a:p>
            <a:endParaRPr/>
          </a:p>
          <a:p>
            <a:r>
              <a:t>io_uring is what high-performance databases use (ScyllaDB, TigerBeetle). New backend but reuses existing benchmark framework for direct comparison. It also introduces its own tunable parameters (queue depth, SQPOLL, IOPOLL, registered buffers/files) — roughly doubling our parameter space, which further motivates auto-tuning.</a:t>
            </a:r>
          </a:p>
          <a:p>
            <a:endParaRPr/>
          </a:p>
          <a:p>
            <a:r>
              <a:t>O_DIRECT caveat: needs 4K-aligned buffers, doesn't work on tmpfs. Must test on actual target storage.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5: Auto-Tuning &amp; Roadmap</a:t>
            </a:r>
          </a:p>
          <a:p>
            <a:endParaRPr/>
          </a:p>
          <a:p>
            <a:r>
              <a:t>- Key insight: we don't need to understand every hardware detail. Build the parameter space, let the search find what works.</a:t>
            </a:r>
          </a:p>
          <a:p>
            <a:endParaRPr/>
          </a:p>
          <a:p>
            <a:r>
              <a:t>- Example of non-obvious interaction: O_DIRECT might help at 64 threads but hurt at 16. Or chunk size 1MB wins with SEQUENTIAL hint but 4MB wins with WILLNEED. You'd never find this manually.</a:t>
            </a:r>
          </a:p>
          <a:p>
            <a:endParaRPr/>
          </a:p>
          <a:p>
            <a:r>
              <a:t>- Bayesian optimization is a method for finding the best values of parameters when each evaluation is expensive (like running a benchmark). After each trial, it builds a statistical model (a "surrogate") that predicts which parameter combinations are likely to give good results. It then picks the most promising untried combination — balancing between exploring new regions and exploiting what already looks good. This is much more efficient than random or grid search because it learns from every trial. Optuna is a popular Python library that implements this. You define your parameter ranges and a function that runs the benchmark and returns throughput. Optuna handles the rest — choosing what to try next, tracking results, and providing visualizations of which parameters mattered most.</a:t>
            </a:r>
          </a:p>
          <a:p>
            <a:endParaRPr/>
          </a:p>
          <a:p>
            <a:r>
              <a:t>- Evolutionary search (OpenEvolve) — the key question is: why do we need code evolution here, not just parameter tuning? Because some of the most impactful optimizations aren't expressible as numbers. For example: should each thread read one file, or should one thread read multiple files sequentially to benefit from filesystem readahead? Should we sort blocks by physical location before issuing reads, or keep the original order? Should file creation be fully serialized (current approach), pipelined in batches, or interleaved with writes? These are branching code paths, not slider values. Bayesian search can't explore them — it needs a fixed code structure with numeric/categorical knobs. Evolutionary search can generate and test structurally different implementations, combine successful patterns from different variants, and discover strategies we wouldn't think to try manually. Given that the current C++ backend was hand-optimized and is already quite good, incremental parameter tuning may hit a ceiling. Code-level evolution is how we might break past it.</a:t>
            </a:r>
          </a:p>
          <a:p>
            <a:endParaRPr/>
          </a:p>
          <a:p>
            <a:r>
              <a:t>- Roadmap step 1 is low effort — enables all later work. Step 2 is the core engineering. Step 3 makes it production-ready for any hardware. Step 4 is research/exploration.</a:t>
            </a:r>
          </a:p>
          <a:p>
            <a:endParaRPr/>
          </a:p>
          <a:p>
            <a:r>
              <a:t>- End with: "build once, auto-tune everywhere" — same framework works whether target is local NVMe, Spectrum Scale, or future storage.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8046720" cy="640080"/>
          </a:xfrm>
          <a:prstGeom prst="rect">
            <a:avLst/>
          </a:prstGeom>
          <a:noFill/>
        </p:spPr>
        <p:txBody>
          <a:bodyPr wrap="square">
            <a:spAutoFit/>
          </a:bodyPr>
          <a:lstStyle/>
          <a:p>
            <a:pPr algn="l"/>
            <a:r>
              <a:rPr sz="2600" b="1">
                <a:solidFill>
                  <a:srgbClr val="4FC3F7"/>
                </a:solidFill>
              </a:rPr>
              <a:t>I/O Optimization for KV Cache Offload</a:t>
            </a:r>
          </a:p>
          <a:p>
            <a:pPr algn="l">
              <a:spcBef>
                <a:spcPts val="800"/>
              </a:spcBef>
              <a:spcAft>
                <a:spcPts val="200"/>
              </a:spcAft>
            </a:pPr>
            <a:r>
              <a:rPr sz="1400" b="0">
                <a:solidFill>
                  <a:srgbClr val="BBBBBB"/>
                </a:solidFill>
              </a:rPr>
              <a:t>Improving CPU-to-Storage throughput for LLMD</a:t>
            </a:r>
          </a:p>
        </p:txBody>
      </p:sp>
      <p:sp>
        <p:nvSpPr>
          <p:cNvPr id="3" name="TextBox 2"/>
          <p:cNvSpPr txBox="1"/>
          <p:nvPr/>
        </p:nvSpPr>
        <p:spPr>
          <a:xfrm>
            <a:off x="548640" y="1188720"/>
            <a:ext cx="8046720" cy="2882840"/>
          </a:xfrm>
          <a:prstGeom prst="rect">
            <a:avLst/>
          </a:prstGeom>
          <a:noFill/>
        </p:spPr>
        <p:txBody>
          <a:bodyPr wrap="square">
            <a:spAutoFit/>
          </a:bodyPr>
          <a:lstStyle/>
          <a:p>
            <a:pPr algn="l"/>
            <a:r>
              <a:rPr sz="1800" b="1" dirty="0">
                <a:solidFill>
                  <a:srgbClr val="4FC3F7"/>
                </a:solidFill>
              </a:rPr>
              <a:t>Context</a:t>
            </a:r>
          </a:p>
          <a:p>
            <a:pPr algn="l">
              <a:spcBef>
                <a:spcPts val="600"/>
              </a:spcBef>
              <a:spcAft>
                <a:spcPts val="200"/>
              </a:spcAft>
            </a:pPr>
            <a:r>
              <a:rPr sz="1300" b="0" dirty="0">
                <a:solidFill>
                  <a:srgbClr val="FFFFFF"/>
                </a:solidFill>
              </a:rPr>
              <a:t>KV cache blocks: ~5-50MB per block (16 tokens), size depends on model</a:t>
            </a:r>
          </a:p>
          <a:p>
            <a:pPr algn="l">
              <a:spcBef>
                <a:spcPts val="600"/>
              </a:spcBef>
              <a:spcAft>
                <a:spcPts val="200"/>
              </a:spcAft>
            </a:pPr>
            <a:r>
              <a:rPr sz="1300" b="0" dirty="0">
                <a:solidFill>
                  <a:srgbClr val="FFFFFF"/>
                </a:solidFill>
              </a:rPr>
              <a:t>Read path (cache initialization) is more latency-sensitive than writes</a:t>
            </a:r>
          </a:p>
          <a:p>
            <a:pPr lvl="1" algn="l">
              <a:spcBef>
                <a:spcPts val="600"/>
              </a:spcBef>
              <a:spcAft>
                <a:spcPts val="200"/>
              </a:spcAft>
            </a:pPr>
            <a:r>
              <a:rPr sz="1100" b="0" dirty="0">
                <a:solidFill>
                  <a:srgbClr val="BBBBBB"/>
                </a:solidFill>
              </a:rPr>
              <a:t>Writes can be backgrounded during inference</a:t>
            </a:r>
          </a:p>
          <a:p>
            <a:pPr>
              <a:spcBef>
                <a:spcPts val="1400"/>
              </a:spcBef>
              <a:spcAft>
                <a:spcPts val="200"/>
              </a:spcAft>
            </a:pPr>
            <a:r>
              <a:rPr sz="1600" b="1" dirty="0">
                <a:solidFill>
                  <a:srgbClr val="66BB6A"/>
                </a:solidFill>
              </a:rPr>
              <a:t>Benchmark Project </a:t>
            </a:r>
            <a:r>
              <a:rPr lang="en-US" sz="1600" b="1" dirty="0">
                <a:solidFill>
                  <a:srgbClr val="66BB6A"/>
                </a:solidFill>
              </a:rPr>
              <a:t> https://github.com/rshavitt/cpu_to_storage/  </a:t>
            </a:r>
            <a:r>
              <a:rPr sz="1600" b="1" dirty="0">
                <a:solidFill>
                  <a:srgbClr val="66BB6A"/>
                </a:solidFill>
              </a:rPr>
              <a:t>(by </a:t>
            </a:r>
            <a:r>
              <a:rPr lang="en-US" sz="1600" b="1" dirty="0" err="1">
                <a:solidFill>
                  <a:srgbClr val="66BB6A"/>
                </a:solidFill>
              </a:rPr>
              <a:t>llmd</a:t>
            </a:r>
            <a:r>
              <a:rPr lang="en-US" sz="1600" b="1" dirty="0">
                <a:solidFill>
                  <a:srgbClr val="66BB6A"/>
                </a:solidFill>
              </a:rPr>
              <a:t> team)</a:t>
            </a:r>
            <a:endParaRPr sz="1600" b="1" dirty="0">
              <a:solidFill>
                <a:srgbClr val="66BB6A"/>
              </a:solidFill>
            </a:endParaRPr>
          </a:p>
          <a:p>
            <a:pPr algn="l">
              <a:spcBef>
                <a:spcPts val="600"/>
              </a:spcBef>
              <a:spcAft>
                <a:spcPts val="200"/>
              </a:spcAft>
            </a:pPr>
            <a:r>
              <a:rPr sz="1300" b="0" dirty="0">
                <a:solidFill>
                  <a:srgbClr val="FFFFFF"/>
                </a:solidFill>
              </a:rPr>
              <a:t>4 backends: C++ (</a:t>
            </a:r>
            <a:r>
              <a:rPr sz="1300" b="0" dirty="0" err="1">
                <a:solidFill>
                  <a:srgbClr val="FFFFFF"/>
                </a:solidFill>
              </a:rPr>
              <a:t>pread</a:t>
            </a:r>
            <a:r>
              <a:rPr sz="1300" b="0" dirty="0">
                <a:solidFill>
                  <a:srgbClr val="FFFFFF"/>
                </a:solidFill>
              </a:rPr>
              <a:t> + </a:t>
            </a:r>
            <a:r>
              <a:rPr sz="1300" b="0" dirty="0" err="1">
                <a:solidFill>
                  <a:srgbClr val="FFFFFF"/>
                </a:solidFill>
              </a:rPr>
              <a:t>threadpool</a:t>
            </a:r>
            <a:r>
              <a:rPr sz="1300" b="0" dirty="0">
                <a:solidFill>
                  <a:srgbClr val="FFFFFF"/>
                </a:solidFill>
              </a:rPr>
              <a:t>), Python self (</a:t>
            </a:r>
            <a:r>
              <a:rPr sz="1300" b="0" dirty="0" err="1">
                <a:solidFill>
                  <a:srgbClr val="FFFFFF"/>
                </a:solidFill>
              </a:rPr>
              <a:t>readv</a:t>
            </a:r>
            <a:r>
              <a:rPr sz="1300" b="0" dirty="0">
                <a:solidFill>
                  <a:srgbClr val="FFFFFF"/>
                </a:solidFill>
              </a:rPr>
              <a:t> + </a:t>
            </a:r>
            <a:r>
              <a:rPr sz="1300" b="0" dirty="0" err="1">
                <a:solidFill>
                  <a:srgbClr val="FFFFFF"/>
                </a:solidFill>
              </a:rPr>
              <a:t>asyncio</a:t>
            </a:r>
            <a:r>
              <a:rPr sz="1300" b="0" dirty="0">
                <a:solidFill>
                  <a:srgbClr val="FFFFFF"/>
                </a:solidFill>
              </a:rPr>
              <a:t>), </a:t>
            </a:r>
            <a:r>
              <a:rPr sz="1300" b="0" dirty="0" err="1">
                <a:solidFill>
                  <a:srgbClr val="FFFFFF"/>
                </a:solidFill>
              </a:rPr>
              <a:t>aiofiles</a:t>
            </a:r>
            <a:r>
              <a:rPr sz="1300" b="0" dirty="0">
                <a:solidFill>
                  <a:srgbClr val="FFFFFF"/>
                </a:solidFill>
              </a:rPr>
              <a:t>, NIXL</a:t>
            </a:r>
          </a:p>
          <a:p>
            <a:pPr algn="l">
              <a:spcBef>
                <a:spcPts val="600"/>
              </a:spcBef>
              <a:spcAft>
                <a:spcPts val="200"/>
              </a:spcAft>
            </a:pPr>
            <a:r>
              <a:rPr sz="1300" b="0" dirty="0">
                <a:solidFill>
                  <a:srgbClr val="FFFFFF"/>
                </a:solidFill>
              </a:rPr>
              <a:t>Block sizes: 2-64 MB  |  Thread counts: 16, 32, 64</a:t>
            </a:r>
          </a:p>
          <a:p>
            <a:pPr algn="l">
              <a:spcBef>
                <a:spcPts val="600"/>
              </a:spcBef>
              <a:spcAft>
                <a:spcPts val="200"/>
              </a:spcAft>
            </a:pPr>
            <a:r>
              <a:rPr sz="1300" b="0" dirty="0">
                <a:solidFill>
                  <a:srgbClr val="FFFFFF"/>
                </a:solidFill>
              </a:rPr>
              <a:t>Modes: sequential, fixed data (100GB), concurrent </a:t>
            </a:r>
            <a:r>
              <a:rPr sz="1300" b="0" dirty="0" err="1">
                <a:solidFill>
                  <a:srgbClr val="FFFFFF"/>
                </a:solidFill>
              </a:rPr>
              <a:t>read+write</a:t>
            </a:r>
            <a:endParaRPr sz="1300" b="0" dirty="0">
              <a:solidFill>
                <a:srgbClr val="FFFFFF"/>
              </a:solidFill>
            </a:endParaRPr>
          </a:p>
          <a:p>
            <a:pPr algn="l">
              <a:spcBef>
                <a:spcPts val="600"/>
              </a:spcBef>
              <a:spcAft>
                <a:spcPts val="200"/>
              </a:spcAft>
            </a:pPr>
            <a:r>
              <a:rPr sz="1300" b="0" dirty="0">
                <a:solidFill>
                  <a:srgbClr val="FFFFFF"/>
                </a:solidFill>
              </a:rPr>
              <a:t>Environment: K8s pods, 450Gi RAM, /dev/</a:t>
            </a:r>
            <a:r>
              <a:rPr sz="1300" b="0" dirty="0" err="1">
                <a:solidFill>
                  <a:srgbClr val="FFFFFF"/>
                </a:solidFill>
              </a:rPr>
              <a:t>shm</a:t>
            </a:r>
            <a:r>
              <a:rPr sz="1300" b="0" dirty="0">
                <a:solidFill>
                  <a:srgbClr val="FFFFFF"/>
                </a:solidFill>
              </a:rPr>
              <a:t> (</a:t>
            </a:r>
            <a:r>
              <a:rPr sz="1300" b="0" dirty="0" err="1">
                <a:solidFill>
                  <a:srgbClr val="FFFFFF"/>
                </a:solidFill>
              </a:rPr>
              <a:t>tmpfs</a:t>
            </a:r>
            <a:r>
              <a:rPr sz="1300" b="0" dirty="0">
                <a:solidFill>
                  <a:srgbClr val="FFFFFF"/>
                </a:solidFill>
              </a:rPr>
              <a:t>) + persistent storage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8046720" cy="640080"/>
          </a:xfrm>
          <a:prstGeom prst="rect">
            <a:avLst/>
          </a:prstGeom>
          <a:noFill/>
        </p:spPr>
        <p:txBody>
          <a:bodyPr wrap="square">
            <a:spAutoFit/>
          </a:bodyPr>
          <a:lstStyle/>
          <a:p>
            <a:pPr algn="l"/>
            <a:r>
              <a:rPr sz="2600" b="1">
                <a:solidFill>
                  <a:srgbClr val="4FC3F7"/>
                </a:solidFill>
              </a:rPr>
              <a:t>Current Results — Baseline</a:t>
            </a:r>
          </a:p>
        </p:txBody>
      </p:sp>
      <p:graphicFrame>
        <p:nvGraphicFramePr>
          <p:cNvPr id="3" name="Table 2"/>
          <p:cNvGraphicFramePr>
            <a:graphicFrameLocks noGrp="1"/>
          </p:cNvGraphicFramePr>
          <p:nvPr/>
        </p:nvGraphicFramePr>
        <p:xfrm>
          <a:off x="548640" y="1097280"/>
          <a:ext cx="8046720" cy="1188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297180">
                <a:tc>
                  <a:txBody>
                    <a:bodyPr/>
                    <a:lstStyle/>
                    <a:p>
                      <a:pPr algn="l"/>
                      <a:r>
                        <a:rPr sz="1000" b="1">
                          <a:solidFill>
                            <a:srgbClr val="4FC3F7"/>
                          </a:solidFill>
                        </a:rPr>
                        <a:t>Backend</a:t>
                      </a:r>
                    </a:p>
                  </a:txBody>
                  <a:tcPr marL="101600" marR="101600" marT="38100" marB="38100" anchor="ctr">
                    <a:solidFill>
                      <a:srgbClr val="2A2A45"/>
                    </a:solidFill>
                  </a:tcPr>
                </a:tc>
                <a:tc>
                  <a:txBody>
                    <a:bodyPr/>
                    <a:lstStyle/>
                    <a:p>
                      <a:pPr algn="l"/>
                      <a:r>
                        <a:rPr sz="1000" b="1">
                          <a:solidFill>
                            <a:srgbClr val="4FC3F7"/>
                          </a:solidFill>
                        </a:rPr>
                        <a:t>Peak Read</a:t>
                      </a:r>
                    </a:p>
                  </a:txBody>
                  <a:tcPr marL="101600" marR="101600" marT="38100" marB="38100" anchor="ctr">
                    <a:solidFill>
                      <a:srgbClr val="2A2A45"/>
                    </a:solidFill>
                  </a:tcPr>
                </a:tc>
                <a:tc>
                  <a:txBody>
                    <a:bodyPr/>
                    <a:lstStyle/>
                    <a:p>
                      <a:pPr algn="l"/>
                      <a:r>
                        <a:rPr sz="1000" b="1">
                          <a:solidFill>
                            <a:srgbClr val="4FC3F7"/>
                          </a:solidFill>
                        </a:rPr>
                        <a:t>Peak Write</a:t>
                      </a:r>
                    </a:p>
                  </a:txBody>
                  <a:tcPr marL="101600" marR="101600" marT="38100" marB="38100" anchor="ctr">
                    <a:solidFill>
                      <a:srgbClr val="2A2A45"/>
                    </a:solidFill>
                  </a:tcPr>
                </a:tc>
                <a:tc>
                  <a:txBody>
                    <a:bodyPr/>
                    <a:lstStyle/>
                    <a:p>
                      <a:pPr algn="l"/>
                      <a:r>
                        <a:rPr sz="1000" b="1">
                          <a:solidFill>
                            <a:srgbClr val="4FC3F7"/>
                          </a:solidFill>
                        </a:rPr>
                        <a:t>Notes</a:t>
                      </a:r>
                    </a:p>
                  </a:txBody>
                  <a:tcPr marL="101600" marR="101600" marT="38100" marB="38100" anchor="ctr">
                    <a:solidFill>
                      <a:srgbClr val="2A2A45"/>
                    </a:solidFill>
                  </a:tcPr>
                </a:tc>
                <a:extLst>
                  <a:ext uri="{0D108BD9-81ED-4DB2-BD59-A6C34878D82A}">
                    <a16:rowId xmlns:a16="http://schemas.microsoft.com/office/drawing/2014/main" val="10000"/>
                  </a:ext>
                </a:extLst>
              </a:tr>
              <a:tr h="297180">
                <a:tc>
                  <a:txBody>
                    <a:bodyPr/>
                    <a:lstStyle/>
                    <a:p>
                      <a:pPr algn="l"/>
                      <a:r>
                        <a:rPr sz="1000">
                          <a:solidFill>
                            <a:srgbClr val="FFFFFF"/>
                          </a:solidFill>
                        </a:rPr>
                        <a:t>C++ (pread + threadpool)</a:t>
                      </a:r>
                    </a:p>
                  </a:txBody>
                  <a:tcPr marL="101600" marR="101600" marT="38100" marB="38100" anchor="ctr">
                    <a:solidFill>
                      <a:srgbClr val="22223A"/>
                    </a:solidFill>
                  </a:tcPr>
                </a:tc>
                <a:tc>
                  <a:txBody>
                    <a:bodyPr/>
                    <a:lstStyle/>
                    <a:p>
                      <a:pPr algn="l"/>
                      <a:r>
                        <a:rPr sz="1000">
                          <a:solidFill>
                            <a:srgbClr val="FFFFFF"/>
                          </a:solidFill>
                        </a:rPr>
                        <a:t>~55-60 GB/s</a:t>
                      </a:r>
                    </a:p>
                  </a:txBody>
                  <a:tcPr marL="101600" marR="101600" marT="38100" marB="38100" anchor="ctr">
                    <a:solidFill>
                      <a:srgbClr val="22223A"/>
                    </a:solidFill>
                  </a:tcPr>
                </a:tc>
                <a:tc>
                  <a:txBody>
                    <a:bodyPr/>
                    <a:lstStyle/>
                    <a:p>
                      <a:pPr algn="l"/>
                      <a:r>
                        <a:rPr sz="1000">
                          <a:solidFill>
                            <a:srgbClr val="FFFFFF"/>
                          </a:solidFill>
                        </a:rPr>
                        <a:t>~40-45 GB/s</a:t>
                      </a:r>
                    </a:p>
                  </a:txBody>
                  <a:tcPr marL="101600" marR="101600" marT="38100" marB="38100" anchor="ctr">
                    <a:solidFill>
                      <a:srgbClr val="22223A"/>
                    </a:solidFill>
                  </a:tcPr>
                </a:tc>
                <a:tc>
                  <a:txBody>
                    <a:bodyPr/>
                    <a:lstStyle/>
                    <a:p>
                      <a:pPr algn="l"/>
                      <a:r>
                        <a:rPr sz="1000">
                          <a:solidFill>
                            <a:srgbClr val="FFFFFF"/>
                          </a:solidFill>
                        </a:rPr>
                        <a:t>Best overall</a:t>
                      </a:r>
                    </a:p>
                  </a:txBody>
                  <a:tcPr marL="101600" marR="101600" marT="38100" marB="38100" anchor="ctr">
                    <a:solidFill>
                      <a:srgbClr val="22223A"/>
                    </a:solidFill>
                  </a:tcPr>
                </a:tc>
                <a:extLst>
                  <a:ext uri="{0D108BD9-81ED-4DB2-BD59-A6C34878D82A}">
                    <a16:rowId xmlns:a16="http://schemas.microsoft.com/office/drawing/2014/main" val="10001"/>
                  </a:ext>
                </a:extLst>
              </a:tr>
              <a:tr h="297180">
                <a:tc>
                  <a:txBody>
                    <a:bodyPr/>
                    <a:lstStyle/>
                    <a:p>
                      <a:pPr algn="l"/>
                      <a:r>
                        <a:rPr sz="1000">
                          <a:solidFill>
                            <a:srgbClr val="FFFFFF"/>
                          </a:solidFill>
                        </a:rPr>
                        <a:t>Python self (readv)</a:t>
                      </a:r>
                    </a:p>
                  </a:txBody>
                  <a:tcPr marL="101600" marR="101600" marT="38100" marB="38100" anchor="ctr">
                    <a:solidFill>
                      <a:srgbClr val="282842"/>
                    </a:solidFill>
                  </a:tcPr>
                </a:tc>
                <a:tc>
                  <a:txBody>
                    <a:bodyPr/>
                    <a:lstStyle/>
                    <a:p>
                      <a:pPr algn="l"/>
                      <a:r>
                        <a:rPr sz="1000">
                          <a:solidFill>
                            <a:srgbClr val="FFFFFF"/>
                          </a:solidFill>
                        </a:rPr>
                        <a:t>~45-55 GB/s</a:t>
                      </a:r>
                    </a:p>
                  </a:txBody>
                  <a:tcPr marL="101600" marR="101600" marT="38100" marB="38100" anchor="ctr">
                    <a:solidFill>
                      <a:srgbClr val="282842"/>
                    </a:solidFill>
                  </a:tcPr>
                </a:tc>
                <a:tc>
                  <a:txBody>
                    <a:bodyPr/>
                    <a:lstStyle/>
                    <a:p>
                      <a:pPr algn="l"/>
                      <a:r>
                        <a:rPr sz="1000">
                          <a:solidFill>
                            <a:srgbClr val="FFFFFF"/>
                          </a:solidFill>
                        </a:rPr>
                        <a:t>~25-35 GB/s</a:t>
                      </a:r>
                    </a:p>
                  </a:txBody>
                  <a:tcPr marL="101600" marR="101600" marT="38100" marB="38100" anchor="ctr">
                    <a:solidFill>
                      <a:srgbClr val="282842"/>
                    </a:solidFill>
                  </a:tcPr>
                </a:tc>
                <a:tc>
                  <a:txBody>
                    <a:bodyPr/>
                    <a:lstStyle/>
                    <a:p>
                      <a:pPr algn="l"/>
                      <a:r>
                        <a:rPr sz="1000">
                          <a:solidFill>
                            <a:srgbClr val="FFFFFF"/>
                          </a:solidFill>
                        </a:rPr>
                        <a:t>GIL limits writes</a:t>
                      </a:r>
                    </a:p>
                  </a:txBody>
                  <a:tcPr marL="101600" marR="101600" marT="38100" marB="38100" anchor="ctr">
                    <a:solidFill>
                      <a:srgbClr val="282842"/>
                    </a:solidFill>
                  </a:tcPr>
                </a:tc>
                <a:extLst>
                  <a:ext uri="{0D108BD9-81ED-4DB2-BD59-A6C34878D82A}">
                    <a16:rowId xmlns:a16="http://schemas.microsoft.com/office/drawing/2014/main" val="10002"/>
                  </a:ext>
                </a:extLst>
              </a:tr>
              <a:tr h="297180">
                <a:tc>
                  <a:txBody>
                    <a:bodyPr/>
                    <a:lstStyle/>
                    <a:p>
                      <a:pPr algn="l"/>
                      <a:r>
                        <a:rPr sz="1000">
                          <a:solidFill>
                            <a:srgbClr val="FFFFFF"/>
                          </a:solidFill>
                        </a:rPr>
                        <a:t>NIXL</a:t>
                      </a:r>
                    </a:p>
                  </a:txBody>
                  <a:tcPr marL="101600" marR="101600" marT="38100" marB="38100" anchor="ctr">
                    <a:solidFill>
                      <a:srgbClr val="22223A"/>
                    </a:solidFill>
                  </a:tcPr>
                </a:tc>
                <a:tc>
                  <a:txBody>
                    <a:bodyPr/>
                    <a:lstStyle/>
                    <a:p>
                      <a:pPr algn="l"/>
                      <a:r>
                        <a:rPr sz="1000">
                          <a:solidFill>
                            <a:srgbClr val="FFFFFF"/>
                          </a:solidFill>
                        </a:rPr>
                        <a:t>~15-20 GB/s</a:t>
                      </a:r>
                    </a:p>
                  </a:txBody>
                  <a:tcPr marL="101600" marR="101600" marT="38100" marB="38100" anchor="ctr">
                    <a:solidFill>
                      <a:srgbClr val="22223A"/>
                    </a:solidFill>
                  </a:tcPr>
                </a:tc>
                <a:tc>
                  <a:txBody>
                    <a:bodyPr/>
                    <a:lstStyle/>
                    <a:p>
                      <a:pPr algn="l"/>
                      <a:r>
                        <a:rPr sz="1000">
                          <a:solidFill>
                            <a:srgbClr val="FFFFFF"/>
                          </a:solidFill>
                        </a:rPr>
                        <a:t>~10-15 GB/s</a:t>
                      </a:r>
                    </a:p>
                  </a:txBody>
                  <a:tcPr marL="101600" marR="101600" marT="38100" marB="38100" anchor="ctr">
                    <a:solidFill>
                      <a:srgbClr val="22223A"/>
                    </a:solidFill>
                  </a:tcPr>
                </a:tc>
                <a:tc>
                  <a:txBody>
                    <a:bodyPr/>
                    <a:lstStyle/>
                    <a:p>
                      <a:pPr algn="l"/>
                      <a:r>
                        <a:rPr sz="1000">
                          <a:solidFill>
                            <a:srgbClr val="FFFFFF"/>
                          </a:solidFill>
                        </a:rPr>
                        <a:t>Busy-poll overhead</a:t>
                      </a:r>
                    </a:p>
                  </a:txBody>
                  <a:tcPr marL="101600" marR="101600" marT="38100" marB="38100" anchor="ctr">
                    <a:solidFill>
                      <a:srgbClr val="22223A"/>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548640" y="2468880"/>
            <a:ext cx="8046720" cy="2286000"/>
          </a:xfrm>
          <a:prstGeom prst="rect">
            <a:avLst/>
          </a:prstGeom>
          <a:noFill/>
        </p:spPr>
        <p:txBody>
          <a:bodyPr wrap="square">
            <a:spAutoFit/>
          </a:bodyPr>
          <a:lstStyle/>
          <a:p>
            <a:pPr algn="l"/>
            <a:r>
              <a:rPr sz="1600" b="1">
                <a:solidFill>
                  <a:srgbClr val="66BB6A"/>
                </a:solidFill>
              </a:rPr>
              <a:t>Key Observations</a:t>
            </a:r>
          </a:p>
          <a:p>
            <a:pPr algn="l">
              <a:spcBef>
                <a:spcPts val="600"/>
              </a:spcBef>
              <a:spcAft>
                <a:spcPts val="200"/>
              </a:spcAft>
            </a:pPr>
            <a:r>
              <a:rPr sz="1300" b="0">
                <a:solidFill>
                  <a:srgbClr val="FFFFFF"/>
                </a:solidFill>
              </a:rPr>
              <a:t>Throughput plateaus at 16-32MB block size</a:t>
            </a:r>
          </a:p>
          <a:p>
            <a:pPr algn="l">
              <a:spcBef>
                <a:spcPts val="600"/>
              </a:spcBef>
              <a:spcAft>
                <a:spcPts val="200"/>
              </a:spcAft>
            </a:pPr>
            <a:r>
              <a:rPr sz="1300" b="0">
                <a:solidFill>
                  <a:srgbClr val="FFFFFF"/>
                </a:solidFill>
              </a:rPr>
              <a:t>Diminishing returns beyond 32 threads</a:t>
            </a:r>
          </a:p>
          <a:p>
            <a:pPr algn="l">
              <a:spcBef>
                <a:spcPts val="600"/>
              </a:spcBef>
              <a:spcAft>
                <a:spcPts val="200"/>
              </a:spcAft>
            </a:pPr>
            <a:r>
              <a:rPr sz="1100" b="0">
                <a:solidFill>
                  <a:srgbClr val="BBBBBB"/>
                </a:solidFill>
              </a:rPr>
              <a:t>Tested on /dev/shm (tmpfs) — 100GB data, 5 iterations, cache cleaned between phases</a:t>
            </a:r>
          </a:p>
          <a:p>
            <a:pPr algn="l">
              <a:spcBef>
                <a:spcPts val="1200"/>
              </a:spcBef>
              <a:spcAft>
                <a:spcPts val="200"/>
              </a:spcAft>
            </a:pPr>
            <a:r>
              <a:rPr sz="1300" b="1">
                <a:solidFill>
                  <a:srgbClr val="FFA726"/>
                </a:solidFill>
              </a:rPr>
              <a:t>This is our baseline — the C++ backend using standard POSIX pread/pwrite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8046720" cy="640080"/>
          </a:xfrm>
          <a:prstGeom prst="rect">
            <a:avLst/>
          </a:prstGeom>
          <a:noFill/>
        </p:spPr>
        <p:txBody>
          <a:bodyPr wrap="square">
            <a:spAutoFit/>
          </a:bodyPr>
          <a:lstStyle/>
          <a:p>
            <a:pPr algn="l"/>
            <a:r>
              <a:rPr sz="2600" b="1">
                <a:solidFill>
                  <a:srgbClr val="4FC3F7"/>
                </a:solidFill>
              </a:rPr>
              <a:t>How Linux I/O Works — Where We Can Improve</a:t>
            </a:r>
          </a:p>
        </p:txBody>
      </p:sp>
      <p:sp>
        <p:nvSpPr>
          <p:cNvPr id="3" name="Rounded Rectangle 2"/>
          <p:cNvSpPr/>
          <p:nvPr/>
        </p:nvSpPr>
        <p:spPr>
          <a:xfrm>
            <a:off x="548640" y="1097280"/>
            <a:ext cx="1234440" cy="457200"/>
          </a:xfrm>
          <a:prstGeom prst="roundRect">
            <a:avLst/>
          </a:prstGeom>
          <a:solidFill>
            <a:srgbClr val="2A2A45"/>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900" b="1">
                <a:solidFill>
                  <a:srgbClr val="4FC3F7"/>
                </a:solidFill>
              </a:rPr>
              <a:t>User Buffer</a:t>
            </a:r>
          </a:p>
        </p:txBody>
      </p:sp>
      <p:sp>
        <p:nvSpPr>
          <p:cNvPr id="4" name="TextBox 3"/>
          <p:cNvSpPr txBox="1"/>
          <p:nvPr/>
        </p:nvSpPr>
        <p:spPr>
          <a:xfrm>
            <a:off x="1783080" y="1249680"/>
            <a:ext cx="164592" cy="182880"/>
          </a:xfrm>
          <a:prstGeom prst="rect">
            <a:avLst/>
          </a:prstGeom>
          <a:noFill/>
        </p:spPr>
        <p:txBody>
          <a:bodyPr wrap="none">
            <a:spAutoFit/>
          </a:bodyPr>
          <a:lstStyle/>
          <a:p>
            <a:pPr algn="ctr"/>
            <a:r>
              <a:rPr sz="1200">
                <a:solidFill>
                  <a:srgbClr val="BBBBBB"/>
                </a:solidFill>
              </a:rPr>
              <a:t>→</a:t>
            </a:r>
          </a:p>
        </p:txBody>
      </p:sp>
      <p:sp>
        <p:nvSpPr>
          <p:cNvPr id="5" name="Rounded Rectangle 4"/>
          <p:cNvSpPr/>
          <p:nvPr/>
        </p:nvSpPr>
        <p:spPr>
          <a:xfrm>
            <a:off x="1947672" y="1097280"/>
            <a:ext cx="1234440" cy="457200"/>
          </a:xfrm>
          <a:prstGeom prst="roundRect">
            <a:avLst/>
          </a:prstGeom>
          <a:solidFill>
            <a:srgbClr val="2A2A45"/>
          </a:solidFill>
          <a:ln w="19050">
            <a:solidFill>
              <a:srgbClr val="FFA726"/>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900" b="1">
                <a:solidFill>
                  <a:srgbClr val="FFA726"/>
                </a:solidFill>
              </a:rPr>
              <a:t>syscall
(ctx switch)</a:t>
            </a:r>
          </a:p>
        </p:txBody>
      </p:sp>
      <p:sp>
        <p:nvSpPr>
          <p:cNvPr id="6" name="TextBox 5"/>
          <p:cNvSpPr txBox="1"/>
          <p:nvPr/>
        </p:nvSpPr>
        <p:spPr>
          <a:xfrm>
            <a:off x="3182112" y="1249680"/>
            <a:ext cx="164592" cy="182880"/>
          </a:xfrm>
          <a:prstGeom prst="rect">
            <a:avLst/>
          </a:prstGeom>
          <a:noFill/>
        </p:spPr>
        <p:txBody>
          <a:bodyPr wrap="none">
            <a:spAutoFit/>
          </a:bodyPr>
          <a:lstStyle/>
          <a:p>
            <a:pPr algn="ctr"/>
            <a:r>
              <a:rPr sz="1200">
                <a:solidFill>
                  <a:srgbClr val="BBBBBB"/>
                </a:solidFill>
              </a:rPr>
              <a:t>→</a:t>
            </a:r>
          </a:p>
        </p:txBody>
      </p:sp>
      <p:sp>
        <p:nvSpPr>
          <p:cNvPr id="7" name="Rounded Rectangle 6"/>
          <p:cNvSpPr/>
          <p:nvPr/>
        </p:nvSpPr>
        <p:spPr>
          <a:xfrm>
            <a:off x="3346704" y="1097280"/>
            <a:ext cx="1234440" cy="457200"/>
          </a:xfrm>
          <a:prstGeom prst="roundRect">
            <a:avLst/>
          </a:prstGeom>
          <a:solidFill>
            <a:srgbClr val="2A2A45"/>
          </a:solidFill>
          <a:ln w="19050">
            <a:solidFill>
              <a:srgbClr val="FFA726"/>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900" b="1">
                <a:solidFill>
                  <a:srgbClr val="FFA726"/>
                </a:solidFill>
              </a:rPr>
              <a:t>Page Cache
(kernel copy)</a:t>
            </a:r>
          </a:p>
        </p:txBody>
      </p:sp>
      <p:sp>
        <p:nvSpPr>
          <p:cNvPr id="8" name="TextBox 7"/>
          <p:cNvSpPr txBox="1"/>
          <p:nvPr/>
        </p:nvSpPr>
        <p:spPr>
          <a:xfrm>
            <a:off x="4581144" y="1249680"/>
            <a:ext cx="164592" cy="182880"/>
          </a:xfrm>
          <a:prstGeom prst="rect">
            <a:avLst/>
          </a:prstGeom>
          <a:noFill/>
        </p:spPr>
        <p:txBody>
          <a:bodyPr wrap="none">
            <a:spAutoFit/>
          </a:bodyPr>
          <a:lstStyle/>
          <a:p>
            <a:pPr algn="ctr"/>
            <a:r>
              <a:rPr sz="1200">
                <a:solidFill>
                  <a:srgbClr val="BBBBBB"/>
                </a:solidFill>
              </a:rPr>
              <a:t>→</a:t>
            </a:r>
          </a:p>
        </p:txBody>
      </p:sp>
      <p:sp>
        <p:nvSpPr>
          <p:cNvPr id="9" name="Rounded Rectangle 8"/>
          <p:cNvSpPr/>
          <p:nvPr/>
        </p:nvSpPr>
        <p:spPr>
          <a:xfrm>
            <a:off x="4745736" y="1097280"/>
            <a:ext cx="1234440" cy="457200"/>
          </a:xfrm>
          <a:prstGeom prst="roundRect">
            <a:avLst/>
          </a:prstGeom>
          <a:solidFill>
            <a:srgbClr val="2A2A45"/>
          </a:solidFill>
          <a:ln w="19050">
            <a:solidFill>
              <a:srgbClr val="FFA726"/>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900" b="1">
                <a:solidFill>
                  <a:srgbClr val="FFA726"/>
                </a:solidFill>
              </a:rPr>
              <a:t>Block Layer
(scheduler)</a:t>
            </a:r>
          </a:p>
        </p:txBody>
      </p:sp>
      <p:sp>
        <p:nvSpPr>
          <p:cNvPr id="10" name="TextBox 9"/>
          <p:cNvSpPr txBox="1"/>
          <p:nvPr/>
        </p:nvSpPr>
        <p:spPr>
          <a:xfrm>
            <a:off x="5980176" y="1249680"/>
            <a:ext cx="164592" cy="182880"/>
          </a:xfrm>
          <a:prstGeom prst="rect">
            <a:avLst/>
          </a:prstGeom>
          <a:noFill/>
        </p:spPr>
        <p:txBody>
          <a:bodyPr wrap="none">
            <a:spAutoFit/>
          </a:bodyPr>
          <a:lstStyle/>
          <a:p>
            <a:pPr algn="ctr"/>
            <a:r>
              <a:rPr sz="1200">
                <a:solidFill>
                  <a:srgbClr val="BBBBBB"/>
                </a:solidFill>
              </a:rPr>
              <a:t>→</a:t>
            </a:r>
          </a:p>
        </p:txBody>
      </p:sp>
      <p:sp>
        <p:nvSpPr>
          <p:cNvPr id="11" name="Rounded Rectangle 10"/>
          <p:cNvSpPr/>
          <p:nvPr/>
        </p:nvSpPr>
        <p:spPr>
          <a:xfrm>
            <a:off x="6144768" y="1097280"/>
            <a:ext cx="1234440" cy="457200"/>
          </a:xfrm>
          <a:prstGeom prst="roundRect">
            <a:avLst/>
          </a:prstGeom>
          <a:solidFill>
            <a:srgbClr val="2A2A45"/>
          </a:solidFill>
          <a:ln w="19050">
            <a:solidFill>
              <a:srgbClr val="BBBBBB"/>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900" b="1">
                <a:solidFill>
                  <a:srgbClr val="BBBBBB"/>
                </a:solidFill>
              </a:rPr>
              <a:t>Device Driver</a:t>
            </a:r>
          </a:p>
        </p:txBody>
      </p:sp>
      <p:sp>
        <p:nvSpPr>
          <p:cNvPr id="12" name="TextBox 11"/>
          <p:cNvSpPr txBox="1"/>
          <p:nvPr/>
        </p:nvSpPr>
        <p:spPr>
          <a:xfrm>
            <a:off x="7379208" y="1249680"/>
            <a:ext cx="164592" cy="182880"/>
          </a:xfrm>
          <a:prstGeom prst="rect">
            <a:avLst/>
          </a:prstGeom>
          <a:noFill/>
        </p:spPr>
        <p:txBody>
          <a:bodyPr wrap="none">
            <a:spAutoFit/>
          </a:bodyPr>
          <a:lstStyle/>
          <a:p>
            <a:pPr algn="ctr"/>
            <a:r>
              <a:rPr sz="1200">
                <a:solidFill>
                  <a:srgbClr val="BBBBBB"/>
                </a:solidFill>
              </a:rPr>
              <a:t>→</a:t>
            </a:r>
          </a:p>
        </p:txBody>
      </p:sp>
      <p:sp>
        <p:nvSpPr>
          <p:cNvPr id="13" name="Rounded Rectangle 12"/>
          <p:cNvSpPr/>
          <p:nvPr/>
        </p:nvSpPr>
        <p:spPr>
          <a:xfrm>
            <a:off x="7543800" y="1097280"/>
            <a:ext cx="1234440" cy="457200"/>
          </a:xfrm>
          <a:prstGeom prst="roundRect">
            <a:avLst/>
          </a:prstGeom>
          <a:solidFill>
            <a:srgbClr val="2A2A45"/>
          </a:solidFill>
          <a:ln w="19050">
            <a:solidFill>
              <a:srgbClr val="BBBBBB"/>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900" b="1">
                <a:solidFill>
                  <a:srgbClr val="BBBBBB"/>
                </a:solidFill>
              </a:rPr>
              <a:t>Storage</a:t>
            </a:r>
          </a:p>
        </p:txBody>
      </p:sp>
      <p:sp>
        <p:nvSpPr>
          <p:cNvPr id="14" name="TextBox 13"/>
          <p:cNvSpPr txBox="1"/>
          <p:nvPr/>
        </p:nvSpPr>
        <p:spPr>
          <a:xfrm>
            <a:off x="548640" y="1828800"/>
            <a:ext cx="3657600" cy="2286000"/>
          </a:xfrm>
          <a:prstGeom prst="rect">
            <a:avLst/>
          </a:prstGeom>
          <a:noFill/>
        </p:spPr>
        <p:txBody>
          <a:bodyPr wrap="square">
            <a:spAutoFit/>
          </a:bodyPr>
          <a:lstStyle/>
          <a:p>
            <a:pPr algn="l"/>
            <a:r>
              <a:rPr sz="1500" b="1">
                <a:solidFill>
                  <a:srgbClr val="4FC3F7"/>
                </a:solidFill>
              </a:rPr>
              <a:t>Three bottlenecks:</a:t>
            </a:r>
          </a:p>
          <a:p>
            <a:pPr algn="l">
              <a:spcBef>
                <a:spcPts val="600"/>
              </a:spcBef>
              <a:spcAft>
                <a:spcPts val="200"/>
              </a:spcAft>
            </a:pPr>
            <a:r>
              <a:rPr sz="1200" b="0">
                <a:solidFill>
                  <a:srgbClr val="FFFFFF"/>
                </a:solidFill>
              </a:rPr>
              <a:t>1. Syscall overhead — 1 context switch per pread, ×1000+ blocks</a:t>
            </a:r>
          </a:p>
          <a:p>
            <a:pPr algn="l">
              <a:spcBef>
                <a:spcPts val="600"/>
              </a:spcBef>
              <a:spcAft>
                <a:spcPts val="200"/>
              </a:spcAft>
            </a:pPr>
            <a:r>
              <a:rPr sz="1200" b="0">
                <a:solidFill>
                  <a:srgbClr val="FFFFFF"/>
                </a:solidFill>
              </a:rPr>
              <a:t>2. Page cache copy — double copy through kernel buffers</a:t>
            </a:r>
          </a:p>
          <a:p>
            <a:pPr algn="l">
              <a:spcBef>
                <a:spcPts val="600"/>
              </a:spcBef>
              <a:spcAft>
                <a:spcPts val="200"/>
              </a:spcAft>
            </a:pPr>
            <a:r>
              <a:rPr sz="1200" b="0">
                <a:solidFill>
                  <a:srgbClr val="FFFFFF"/>
                </a:solidFill>
              </a:rPr>
              <a:t>3. Scheduling — kernel doesn't know our access pattern</a:t>
            </a:r>
          </a:p>
        </p:txBody>
      </p:sp>
      <p:sp>
        <p:nvSpPr>
          <p:cNvPr id="15" name="TextBox 14"/>
          <p:cNvSpPr txBox="1"/>
          <p:nvPr/>
        </p:nvSpPr>
        <p:spPr>
          <a:xfrm>
            <a:off x="4572000" y="1828800"/>
            <a:ext cx="4023360" cy="2926080"/>
          </a:xfrm>
          <a:prstGeom prst="rect">
            <a:avLst/>
          </a:prstGeom>
          <a:noFill/>
        </p:spPr>
        <p:txBody>
          <a:bodyPr wrap="square">
            <a:spAutoFit/>
          </a:bodyPr>
          <a:lstStyle/>
          <a:p>
            <a:pPr algn="l"/>
            <a:r>
              <a:rPr sz="1500" b="1">
                <a:solidFill>
                  <a:srgbClr val="66BB6A"/>
                </a:solidFill>
              </a:rPr>
              <a:t>What eliminates each:</a:t>
            </a:r>
          </a:p>
          <a:p>
            <a:pPr algn="l">
              <a:spcBef>
                <a:spcPts val="600"/>
              </a:spcBef>
              <a:spcAft>
                <a:spcPts val="200"/>
              </a:spcAft>
            </a:pPr>
            <a:r>
              <a:rPr sz="1200" b="1">
                <a:solidFill>
                  <a:srgbClr val="4FC3F7"/>
                </a:solidFill>
              </a:rPr>
              <a:t>io_uring → eliminates #1</a:t>
            </a:r>
          </a:p>
          <a:p>
            <a:pPr lvl="1" algn="l">
              <a:spcBef>
                <a:spcPts val="600"/>
              </a:spcBef>
              <a:spcAft>
                <a:spcPts val="200"/>
              </a:spcAft>
            </a:pPr>
            <a:r>
              <a:rPr sz="1000" b="0">
                <a:solidFill>
                  <a:srgbClr val="BBBBBB"/>
                </a:solidFill>
              </a:rPr>
              <a:t>Shared ring buffer, batch I/O ops. Used by ScyllaDB, TigerBeetle. Linux 5.1+</a:t>
            </a:r>
          </a:p>
          <a:p>
            <a:pPr algn="l">
              <a:spcBef>
                <a:spcPts val="600"/>
              </a:spcBef>
              <a:spcAft>
                <a:spcPts val="200"/>
              </a:spcAft>
            </a:pPr>
            <a:r>
              <a:rPr sz="1200" b="1">
                <a:solidFill>
                  <a:srgbClr val="4FC3F7"/>
                </a:solidFill>
              </a:rPr>
              <a:t>O_DIRECT → eliminates #2</a:t>
            </a:r>
          </a:p>
          <a:p>
            <a:pPr lvl="1" algn="l">
              <a:spcBef>
                <a:spcPts val="600"/>
              </a:spcBef>
              <a:spcAft>
                <a:spcPts val="200"/>
              </a:spcAft>
            </a:pPr>
            <a:r>
              <a:rPr sz="1000" b="0">
                <a:solidFill>
                  <a:srgbClr val="BBBBBB"/>
                </a:solidFill>
              </a:rPr>
              <a:t>Bypass page cache, straight to user buffer. Needs 4K alignment.</a:t>
            </a:r>
          </a:p>
          <a:p>
            <a:pPr algn="l">
              <a:spcBef>
                <a:spcPts val="600"/>
              </a:spcBef>
              <a:spcAft>
                <a:spcPts val="200"/>
              </a:spcAft>
            </a:pPr>
            <a:r>
              <a:rPr sz="1200" b="1">
                <a:solidFill>
                  <a:srgbClr val="4FC3F7"/>
                </a:solidFill>
              </a:rPr>
              <a:t>posix_fadvise → helps #3</a:t>
            </a:r>
          </a:p>
          <a:p>
            <a:pPr lvl="1" algn="l">
              <a:spcBef>
                <a:spcPts val="600"/>
              </a:spcBef>
              <a:spcAft>
                <a:spcPts val="200"/>
              </a:spcAft>
            </a:pPr>
            <a:r>
              <a:rPr sz="1000" b="0">
                <a:solidFill>
                  <a:srgbClr val="BBBBBB"/>
                </a:solidFill>
              </a:rPr>
              <a:t>SEQUENTIAL / WILLNEED hints. Nearly free.</a:t>
            </a:r>
          </a:p>
          <a:p>
            <a:pPr algn="l">
              <a:spcBef>
                <a:spcPts val="600"/>
              </a:spcBef>
              <a:spcAft>
                <a:spcPts val="200"/>
              </a:spcAft>
            </a:pPr>
            <a:r>
              <a:rPr sz="1200" b="1">
                <a:solidFill>
                  <a:srgbClr val="FFA726"/>
                </a:solidFill>
              </a:rPr>
              <a:t>Combined → eliminates all three</a:t>
            </a:r>
          </a:p>
          <a:p>
            <a:pPr lvl="1" algn="l">
              <a:spcBef>
                <a:spcPts val="600"/>
              </a:spcBef>
              <a:spcAft>
                <a:spcPts val="200"/>
              </a:spcAft>
            </a:pPr>
            <a:r>
              <a:rPr sz="1000" b="0">
                <a:solidFill>
                  <a:srgbClr val="BBBBBB"/>
                </a:solidFill>
              </a:rPr>
              <a:t>Theoretical ceiling for Linux I/O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8046720" cy="640080"/>
          </a:xfrm>
          <a:prstGeom prst="rect">
            <a:avLst/>
          </a:prstGeom>
          <a:noFill/>
        </p:spPr>
        <p:txBody>
          <a:bodyPr wrap="square">
            <a:spAutoFit/>
          </a:bodyPr>
          <a:lstStyle/>
          <a:p>
            <a:pPr algn="l"/>
            <a:r>
              <a:rPr sz="2600" b="1">
                <a:solidFill>
                  <a:srgbClr val="4FC3F7"/>
                </a:solidFill>
              </a:rPr>
              <a:t>Optimization Approaches</a:t>
            </a:r>
          </a:p>
        </p:txBody>
      </p:sp>
      <p:sp>
        <p:nvSpPr>
          <p:cNvPr id="3" name="TextBox 2"/>
          <p:cNvSpPr txBox="1"/>
          <p:nvPr/>
        </p:nvSpPr>
        <p:spPr>
          <a:xfrm>
            <a:off x="548640" y="1005840"/>
            <a:ext cx="8046720" cy="320040"/>
          </a:xfrm>
          <a:prstGeom prst="rect">
            <a:avLst/>
          </a:prstGeom>
          <a:noFill/>
        </p:spPr>
        <p:txBody>
          <a:bodyPr wrap="none">
            <a:spAutoFit/>
          </a:bodyPr>
          <a:lstStyle/>
          <a:p>
            <a:pPr algn="l"/>
            <a:r>
              <a:rPr sz="1500" b="1">
                <a:solidFill>
                  <a:srgbClr val="66BB6A"/>
                </a:solidFill>
              </a:rPr>
              <a:t>A. Optimize Current Approach (existing C++ backend)</a:t>
            </a:r>
          </a:p>
        </p:txBody>
      </p:sp>
      <p:graphicFrame>
        <p:nvGraphicFramePr>
          <p:cNvPr id="4" name="Table 3"/>
          <p:cNvGraphicFramePr>
            <a:graphicFrameLocks noGrp="1"/>
          </p:cNvGraphicFramePr>
          <p:nvPr/>
        </p:nvGraphicFramePr>
        <p:xfrm>
          <a:off x="548640" y="1371600"/>
          <a:ext cx="8046720" cy="146304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43840">
                <a:tc>
                  <a:txBody>
                    <a:bodyPr/>
                    <a:lstStyle/>
                    <a:p>
                      <a:pPr algn="l"/>
                      <a:r>
                        <a:rPr sz="1000" b="1">
                          <a:solidFill>
                            <a:srgbClr val="4FC3F7"/>
                          </a:solidFill>
                        </a:rPr>
                        <a:t>Parameter</a:t>
                      </a:r>
                    </a:p>
                  </a:txBody>
                  <a:tcPr marL="101600" marR="101600" marT="38100" marB="38100" anchor="ctr">
                    <a:solidFill>
                      <a:srgbClr val="2A2A45"/>
                    </a:solidFill>
                  </a:tcPr>
                </a:tc>
                <a:tc>
                  <a:txBody>
                    <a:bodyPr/>
                    <a:lstStyle/>
                    <a:p>
                      <a:pPr algn="l"/>
                      <a:r>
                        <a:rPr sz="1000" b="1">
                          <a:solidFill>
                            <a:srgbClr val="4FC3F7"/>
                          </a:solidFill>
                        </a:rPr>
                        <a:t>What it does</a:t>
                      </a:r>
                    </a:p>
                  </a:txBody>
                  <a:tcPr marL="101600" marR="101600" marT="38100" marB="38100" anchor="ctr">
                    <a:solidFill>
                      <a:srgbClr val="2A2A45"/>
                    </a:solidFill>
                  </a:tcPr>
                </a:tc>
                <a:tc>
                  <a:txBody>
                    <a:bodyPr/>
                    <a:lstStyle/>
                    <a:p>
                      <a:pPr algn="l"/>
                      <a:r>
                        <a:rPr sz="1000" b="1">
                          <a:solidFill>
                            <a:srgbClr val="4FC3F7"/>
                          </a:solidFill>
                        </a:rPr>
                        <a:t>Effort</a:t>
                      </a:r>
                    </a:p>
                  </a:txBody>
                  <a:tcPr marL="101600" marR="101600" marT="38100" marB="38100" anchor="ctr">
                    <a:solidFill>
                      <a:srgbClr val="2A2A45"/>
                    </a:solidFill>
                  </a:tcPr>
                </a:tc>
                <a:extLst>
                  <a:ext uri="{0D108BD9-81ED-4DB2-BD59-A6C34878D82A}">
                    <a16:rowId xmlns:a16="http://schemas.microsoft.com/office/drawing/2014/main" val="10000"/>
                  </a:ext>
                </a:extLst>
              </a:tr>
              <a:tr h="243840">
                <a:tc>
                  <a:txBody>
                    <a:bodyPr/>
                    <a:lstStyle/>
                    <a:p>
                      <a:pPr algn="l"/>
                      <a:r>
                        <a:rPr sz="1000">
                          <a:solidFill>
                            <a:srgbClr val="FFFFFF"/>
                          </a:solidFill>
                        </a:rPr>
                        <a:t>O_NOATIME</a:t>
                      </a:r>
                    </a:p>
                  </a:txBody>
                  <a:tcPr marL="101600" marR="101600" marT="38100" marB="38100" anchor="ctr">
                    <a:solidFill>
                      <a:srgbClr val="22223A"/>
                    </a:solidFill>
                  </a:tcPr>
                </a:tc>
                <a:tc>
                  <a:txBody>
                    <a:bodyPr/>
                    <a:lstStyle/>
                    <a:p>
                      <a:pPr algn="l"/>
                      <a:r>
                        <a:rPr sz="1000">
                          <a:solidFill>
                            <a:srgbClr val="FFFFFF"/>
                          </a:solidFill>
                        </a:rPr>
                        <a:t>Skip access time metadata update on every read</a:t>
                      </a:r>
                    </a:p>
                  </a:txBody>
                  <a:tcPr marL="101600" marR="101600" marT="38100" marB="38100" anchor="ctr">
                    <a:solidFill>
                      <a:srgbClr val="22223A"/>
                    </a:solidFill>
                  </a:tcPr>
                </a:tc>
                <a:tc>
                  <a:txBody>
                    <a:bodyPr/>
                    <a:lstStyle/>
                    <a:p>
                      <a:pPr algn="l"/>
                      <a:r>
                        <a:rPr sz="1000">
                          <a:solidFill>
                            <a:srgbClr val="FFFFFF"/>
                          </a:solidFill>
                        </a:rPr>
                        <a:t>1 line</a:t>
                      </a:r>
                    </a:p>
                  </a:txBody>
                  <a:tcPr marL="101600" marR="101600" marT="38100" marB="38100" anchor="ctr">
                    <a:solidFill>
                      <a:srgbClr val="22223A"/>
                    </a:solidFill>
                  </a:tcPr>
                </a:tc>
                <a:extLst>
                  <a:ext uri="{0D108BD9-81ED-4DB2-BD59-A6C34878D82A}">
                    <a16:rowId xmlns:a16="http://schemas.microsoft.com/office/drawing/2014/main" val="10001"/>
                  </a:ext>
                </a:extLst>
              </a:tr>
              <a:tr h="243840">
                <a:tc>
                  <a:txBody>
                    <a:bodyPr/>
                    <a:lstStyle/>
                    <a:p>
                      <a:pPr algn="l"/>
                      <a:r>
                        <a:rPr sz="1000">
                          <a:solidFill>
                            <a:srgbClr val="FFFFFF"/>
                          </a:solidFill>
                        </a:rPr>
                        <a:t>posix_fadvise</a:t>
                      </a:r>
                    </a:p>
                  </a:txBody>
                  <a:tcPr marL="101600" marR="101600" marT="38100" marB="38100" anchor="ctr">
                    <a:solidFill>
                      <a:srgbClr val="282842"/>
                    </a:solidFill>
                  </a:tcPr>
                </a:tc>
                <a:tc>
                  <a:txBody>
                    <a:bodyPr/>
                    <a:lstStyle/>
                    <a:p>
                      <a:pPr algn="l"/>
                      <a:r>
                        <a:rPr sz="1000">
                          <a:solidFill>
                            <a:srgbClr val="FFFFFF"/>
                          </a:solidFill>
                        </a:rPr>
                        <a:t>Tell kernel our access pattern (sequential / prefetch)</a:t>
                      </a:r>
                    </a:p>
                  </a:txBody>
                  <a:tcPr marL="101600" marR="101600" marT="38100" marB="38100" anchor="ctr">
                    <a:solidFill>
                      <a:srgbClr val="282842"/>
                    </a:solidFill>
                  </a:tcPr>
                </a:tc>
                <a:tc>
                  <a:txBody>
                    <a:bodyPr/>
                    <a:lstStyle/>
                    <a:p>
                      <a:pPr algn="l"/>
                      <a:r>
                        <a:rPr sz="1000">
                          <a:solidFill>
                            <a:srgbClr val="FFFFFF"/>
                          </a:solidFill>
                        </a:rPr>
                        <a:t>2-3 lines</a:t>
                      </a:r>
                    </a:p>
                  </a:txBody>
                  <a:tcPr marL="101600" marR="101600" marT="38100" marB="38100" anchor="ctr">
                    <a:solidFill>
                      <a:srgbClr val="282842"/>
                    </a:solidFill>
                  </a:tcPr>
                </a:tc>
                <a:extLst>
                  <a:ext uri="{0D108BD9-81ED-4DB2-BD59-A6C34878D82A}">
                    <a16:rowId xmlns:a16="http://schemas.microsoft.com/office/drawing/2014/main" val="10002"/>
                  </a:ext>
                </a:extLst>
              </a:tr>
              <a:tr h="243840">
                <a:tc>
                  <a:txBody>
                    <a:bodyPr/>
                    <a:lstStyle/>
                    <a:p>
                      <a:pPr algn="l"/>
                      <a:r>
                        <a:rPr sz="1000">
                          <a:solidFill>
                            <a:srgbClr val="FFFFFF"/>
                          </a:solidFill>
                        </a:rPr>
                        <a:t>I/O chunk size</a:t>
                      </a:r>
                    </a:p>
                  </a:txBody>
                  <a:tcPr marL="101600" marR="101600" marT="38100" marB="38100" anchor="ctr">
                    <a:solidFill>
                      <a:srgbClr val="22223A"/>
                    </a:solidFill>
                  </a:tcPr>
                </a:tc>
                <a:tc>
                  <a:txBody>
                    <a:bodyPr/>
                    <a:lstStyle/>
                    <a:p>
                      <a:pPr algn="l"/>
                      <a:r>
                        <a:rPr sz="1000">
                          <a:solidFill>
                            <a:srgbClr val="FFFFFF"/>
                          </a:solidFill>
                        </a:rPr>
                        <a:t>Tune pread/pwrite size within a block</a:t>
                      </a:r>
                    </a:p>
                  </a:txBody>
                  <a:tcPr marL="101600" marR="101600" marT="38100" marB="38100" anchor="ctr">
                    <a:solidFill>
                      <a:srgbClr val="22223A"/>
                    </a:solidFill>
                  </a:tcPr>
                </a:tc>
                <a:tc>
                  <a:txBody>
                    <a:bodyPr/>
                    <a:lstStyle/>
                    <a:p>
                      <a:pPr algn="l"/>
                      <a:r>
                        <a:rPr sz="1000">
                          <a:solidFill>
                            <a:srgbClr val="FFFFFF"/>
                          </a:solidFill>
                        </a:rPr>
                        <a:t>Small</a:t>
                      </a:r>
                    </a:p>
                  </a:txBody>
                  <a:tcPr marL="101600" marR="101600" marT="38100" marB="38100" anchor="ctr">
                    <a:solidFill>
                      <a:srgbClr val="22223A"/>
                    </a:solidFill>
                  </a:tcPr>
                </a:tc>
                <a:extLst>
                  <a:ext uri="{0D108BD9-81ED-4DB2-BD59-A6C34878D82A}">
                    <a16:rowId xmlns:a16="http://schemas.microsoft.com/office/drawing/2014/main" val="10003"/>
                  </a:ext>
                </a:extLst>
              </a:tr>
              <a:tr h="243840">
                <a:tc>
                  <a:txBody>
                    <a:bodyPr/>
                    <a:lstStyle/>
                    <a:p>
                      <a:pPr algn="l"/>
                      <a:r>
                        <a:rPr sz="1000">
                          <a:solidFill>
                            <a:srgbClr val="FFFFFF"/>
                          </a:solidFill>
                        </a:rPr>
                        <a:t>Prefetch depth</a:t>
                      </a:r>
                    </a:p>
                  </a:txBody>
                  <a:tcPr marL="101600" marR="101600" marT="38100" marB="38100" anchor="ctr">
                    <a:solidFill>
                      <a:srgbClr val="282842"/>
                    </a:solidFill>
                  </a:tcPr>
                </a:tc>
                <a:tc>
                  <a:txBody>
                    <a:bodyPr/>
                    <a:lstStyle/>
                    <a:p>
                      <a:pPr algn="l"/>
                      <a:r>
                        <a:rPr sz="1000">
                          <a:solidFill>
                            <a:srgbClr val="FFFFFF"/>
                          </a:solidFill>
                        </a:rPr>
                        <a:t>fadvise(WILLNEED) on next N blocks while reading current</a:t>
                      </a:r>
                    </a:p>
                  </a:txBody>
                  <a:tcPr marL="101600" marR="101600" marT="38100" marB="38100" anchor="ctr">
                    <a:solidFill>
                      <a:srgbClr val="282842"/>
                    </a:solidFill>
                  </a:tcPr>
                </a:tc>
                <a:tc>
                  <a:txBody>
                    <a:bodyPr/>
                    <a:lstStyle/>
                    <a:p>
                      <a:pPr algn="l"/>
                      <a:r>
                        <a:rPr sz="1000">
                          <a:solidFill>
                            <a:srgbClr val="FFFFFF"/>
                          </a:solidFill>
                        </a:rPr>
                        <a:t>Small</a:t>
                      </a:r>
                    </a:p>
                  </a:txBody>
                  <a:tcPr marL="101600" marR="101600" marT="38100" marB="38100" anchor="ctr">
                    <a:solidFill>
                      <a:srgbClr val="282842"/>
                    </a:solidFill>
                  </a:tcPr>
                </a:tc>
                <a:extLst>
                  <a:ext uri="{0D108BD9-81ED-4DB2-BD59-A6C34878D82A}">
                    <a16:rowId xmlns:a16="http://schemas.microsoft.com/office/drawing/2014/main" val="10004"/>
                  </a:ext>
                </a:extLst>
              </a:tr>
              <a:tr h="243840">
                <a:tc>
                  <a:txBody>
                    <a:bodyPr/>
                    <a:lstStyle/>
                    <a:p>
                      <a:pPr algn="l"/>
                      <a:r>
                        <a:rPr sz="1000">
                          <a:solidFill>
                            <a:srgbClr val="FFFFFF"/>
                          </a:solidFill>
                        </a:rPr>
                        <a:t>Thread count range</a:t>
                      </a:r>
                    </a:p>
                  </a:txBody>
                  <a:tcPr marL="101600" marR="101600" marT="38100" marB="38100" anchor="ctr">
                    <a:solidFill>
                      <a:srgbClr val="22223A"/>
                    </a:solidFill>
                  </a:tcPr>
                </a:tc>
                <a:tc>
                  <a:txBody>
                    <a:bodyPr/>
                    <a:lstStyle/>
                    <a:p>
                      <a:pPr algn="l"/>
                      <a:r>
                        <a:rPr sz="1000">
                          <a:solidFill>
                            <a:srgbClr val="FFFFFF"/>
                          </a:solidFill>
                        </a:rPr>
                        <a:t>Currently hardcoded [16,32,64] — open to 8-256</a:t>
                      </a:r>
                    </a:p>
                  </a:txBody>
                  <a:tcPr marL="101600" marR="101600" marT="38100" marB="38100" anchor="ctr">
                    <a:solidFill>
                      <a:srgbClr val="22223A"/>
                    </a:solidFill>
                  </a:tcPr>
                </a:tc>
                <a:tc>
                  <a:txBody>
                    <a:bodyPr/>
                    <a:lstStyle/>
                    <a:p>
                      <a:pPr algn="l"/>
                      <a:r>
                        <a:rPr sz="1000">
                          <a:solidFill>
                            <a:srgbClr val="FFFFFF"/>
                          </a:solidFill>
                        </a:rPr>
                        <a:t>1 line</a:t>
                      </a:r>
                    </a:p>
                  </a:txBody>
                  <a:tcPr marL="101600" marR="101600" marT="38100" marB="38100" anchor="ctr">
                    <a:solidFill>
                      <a:srgbClr val="22223A"/>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48640" y="2926080"/>
            <a:ext cx="8046720" cy="274320"/>
          </a:xfrm>
          <a:prstGeom prst="rect">
            <a:avLst/>
          </a:prstGeom>
          <a:noFill/>
        </p:spPr>
        <p:txBody>
          <a:bodyPr wrap="none">
            <a:spAutoFit/>
          </a:bodyPr>
          <a:lstStyle/>
          <a:p>
            <a:pPr algn="l"/>
            <a:r>
              <a:rPr sz="1100" b="1">
                <a:solidFill>
                  <a:srgbClr val="FFA726"/>
                </a:solidFill>
              </a:rPr>
              <a:t>Expected gain: ~5-15% with right combination. Minimal effort.</a:t>
            </a:r>
          </a:p>
        </p:txBody>
      </p:sp>
      <p:sp>
        <p:nvSpPr>
          <p:cNvPr id="6" name="TextBox 5"/>
          <p:cNvSpPr txBox="1"/>
          <p:nvPr/>
        </p:nvSpPr>
        <p:spPr>
          <a:xfrm>
            <a:off x="548640" y="3246120"/>
            <a:ext cx="8046720" cy="320040"/>
          </a:xfrm>
          <a:prstGeom prst="rect">
            <a:avLst/>
          </a:prstGeom>
          <a:noFill/>
        </p:spPr>
        <p:txBody>
          <a:bodyPr wrap="none">
            <a:spAutoFit/>
          </a:bodyPr>
          <a:lstStyle/>
          <a:p>
            <a:pPr algn="l"/>
            <a:r>
              <a:rPr sz="1500" b="1">
                <a:solidFill>
                  <a:srgbClr val="66BB6A"/>
                </a:solidFill>
              </a:rPr>
              <a:t>B. New I/O Mechanisms</a:t>
            </a:r>
          </a:p>
        </p:txBody>
      </p:sp>
      <p:graphicFrame>
        <p:nvGraphicFramePr>
          <p:cNvPr id="7" name="Table 6"/>
          <p:cNvGraphicFramePr>
            <a:graphicFrameLocks noGrp="1"/>
          </p:cNvGraphicFramePr>
          <p:nvPr/>
        </p:nvGraphicFramePr>
        <p:xfrm>
          <a:off x="548640" y="3566160"/>
          <a:ext cx="8046720" cy="91440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05740">
                <a:tc>
                  <a:txBody>
                    <a:bodyPr/>
                    <a:lstStyle/>
                    <a:p>
                      <a:pPr algn="l"/>
                      <a:r>
                        <a:rPr sz="1000" b="1">
                          <a:solidFill>
                            <a:srgbClr val="4FC3F7"/>
                          </a:solidFill>
                        </a:rPr>
                        <a:t>Approach</a:t>
                      </a:r>
                    </a:p>
                  </a:txBody>
                  <a:tcPr marL="101600" marR="101600" marT="38100" marB="38100" anchor="ctr">
                    <a:solidFill>
                      <a:srgbClr val="2A2A45"/>
                    </a:solidFill>
                  </a:tcPr>
                </a:tc>
                <a:tc>
                  <a:txBody>
                    <a:bodyPr/>
                    <a:lstStyle/>
                    <a:p>
                      <a:pPr algn="l"/>
                      <a:r>
                        <a:rPr sz="1000" b="1">
                          <a:solidFill>
                            <a:srgbClr val="4FC3F7"/>
                          </a:solidFill>
                        </a:rPr>
                        <a:t>What it does</a:t>
                      </a:r>
                    </a:p>
                  </a:txBody>
                  <a:tcPr marL="101600" marR="101600" marT="38100" marB="38100" anchor="ctr">
                    <a:solidFill>
                      <a:srgbClr val="2A2A45"/>
                    </a:solidFill>
                  </a:tcPr>
                </a:tc>
                <a:tc>
                  <a:txBody>
                    <a:bodyPr/>
                    <a:lstStyle/>
                    <a:p>
                      <a:pPr algn="l"/>
                      <a:r>
                        <a:rPr sz="1000" b="1">
                          <a:solidFill>
                            <a:srgbClr val="4FC3F7"/>
                          </a:solidFill>
                        </a:rPr>
                        <a:t>Expected read gain</a:t>
                      </a:r>
                    </a:p>
                  </a:txBody>
                  <a:tcPr marL="101600" marR="101600" marT="38100" marB="38100" anchor="ctr">
                    <a:solidFill>
                      <a:srgbClr val="2A2A45"/>
                    </a:solidFill>
                  </a:tcPr>
                </a:tc>
                <a:tc>
                  <a:txBody>
                    <a:bodyPr/>
                    <a:lstStyle/>
                    <a:p>
                      <a:pPr algn="l"/>
                      <a:r>
                        <a:rPr sz="1000" b="1">
                          <a:solidFill>
                            <a:srgbClr val="4FC3F7"/>
                          </a:solidFill>
                        </a:rPr>
                        <a:t>Effort</a:t>
                      </a:r>
                    </a:p>
                  </a:txBody>
                  <a:tcPr marL="101600" marR="101600" marT="38100" marB="38100" anchor="ctr">
                    <a:solidFill>
                      <a:srgbClr val="2A2A45"/>
                    </a:solidFill>
                  </a:tcPr>
                </a:tc>
                <a:extLst>
                  <a:ext uri="{0D108BD9-81ED-4DB2-BD59-A6C34878D82A}">
                    <a16:rowId xmlns:a16="http://schemas.microsoft.com/office/drawing/2014/main" val="10000"/>
                  </a:ext>
                </a:extLst>
              </a:tr>
              <a:tr h="205740">
                <a:tc>
                  <a:txBody>
                    <a:bodyPr/>
                    <a:lstStyle/>
                    <a:p>
                      <a:pPr algn="l"/>
                      <a:r>
                        <a:rPr sz="1000">
                          <a:solidFill>
                            <a:srgbClr val="FFFFFF"/>
                          </a:solidFill>
                        </a:rPr>
                        <a:t>io_uring</a:t>
                      </a:r>
                    </a:p>
                  </a:txBody>
                  <a:tcPr marL="101600" marR="101600" marT="38100" marB="38100" anchor="ctr">
                    <a:solidFill>
                      <a:srgbClr val="22223A"/>
                    </a:solidFill>
                  </a:tcPr>
                </a:tc>
                <a:tc>
                  <a:txBody>
                    <a:bodyPr/>
                    <a:lstStyle/>
                    <a:p>
                      <a:pPr algn="l"/>
                      <a:r>
                        <a:rPr sz="1000">
                          <a:solidFill>
                            <a:srgbClr val="FFFFFF"/>
                          </a:solidFill>
                        </a:rPr>
                        <a:t>Batch syscalls, kernel-side scheduling</a:t>
                      </a:r>
                    </a:p>
                  </a:txBody>
                  <a:tcPr marL="101600" marR="101600" marT="38100" marB="38100" anchor="ctr">
                    <a:solidFill>
                      <a:srgbClr val="22223A"/>
                    </a:solidFill>
                  </a:tcPr>
                </a:tc>
                <a:tc>
                  <a:txBody>
                    <a:bodyPr/>
                    <a:lstStyle/>
                    <a:p>
                      <a:pPr algn="l"/>
                      <a:r>
                        <a:rPr sz="1000">
                          <a:solidFill>
                            <a:srgbClr val="FFFFFF"/>
                          </a:solidFill>
                        </a:rPr>
                        <a:t>~10-20%</a:t>
                      </a:r>
                    </a:p>
                  </a:txBody>
                  <a:tcPr marL="101600" marR="101600" marT="38100" marB="38100" anchor="ctr">
                    <a:solidFill>
                      <a:srgbClr val="22223A"/>
                    </a:solidFill>
                  </a:tcPr>
                </a:tc>
                <a:tc>
                  <a:txBody>
                    <a:bodyPr/>
                    <a:lstStyle/>
                    <a:p>
                      <a:pPr algn="l"/>
                      <a:r>
                        <a:rPr sz="1000">
                          <a:solidFill>
                            <a:srgbClr val="FFFFFF"/>
                          </a:solidFill>
                        </a:rPr>
                        <a:t>New backend</a:t>
                      </a:r>
                    </a:p>
                  </a:txBody>
                  <a:tcPr marL="101600" marR="101600" marT="38100" marB="38100" anchor="ctr">
                    <a:solidFill>
                      <a:srgbClr val="22223A"/>
                    </a:solidFill>
                  </a:tcPr>
                </a:tc>
                <a:extLst>
                  <a:ext uri="{0D108BD9-81ED-4DB2-BD59-A6C34878D82A}">
                    <a16:rowId xmlns:a16="http://schemas.microsoft.com/office/drawing/2014/main" val="10001"/>
                  </a:ext>
                </a:extLst>
              </a:tr>
              <a:tr h="205740">
                <a:tc>
                  <a:txBody>
                    <a:bodyPr/>
                    <a:lstStyle/>
                    <a:p>
                      <a:pPr algn="l"/>
                      <a:r>
                        <a:rPr sz="1000">
                          <a:solidFill>
                            <a:srgbClr val="FFFFFF"/>
                          </a:solidFill>
                        </a:rPr>
                        <a:t>O_DIRECT</a:t>
                      </a:r>
                    </a:p>
                  </a:txBody>
                  <a:tcPr marL="101600" marR="101600" marT="38100" marB="38100" anchor="ctr">
                    <a:solidFill>
                      <a:srgbClr val="282842"/>
                    </a:solidFill>
                  </a:tcPr>
                </a:tc>
                <a:tc>
                  <a:txBody>
                    <a:bodyPr/>
                    <a:lstStyle/>
                    <a:p>
                      <a:pPr algn="l"/>
                      <a:r>
                        <a:rPr sz="1000">
                          <a:solidFill>
                            <a:srgbClr val="FFFFFF"/>
                          </a:solidFill>
                        </a:rPr>
                        <a:t>Bypass page cache entirely</a:t>
                      </a:r>
                    </a:p>
                  </a:txBody>
                  <a:tcPr marL="101600" marR="101600" marT="38100" marB="38100" anchor="ctr">
                    <a:solidFill>
                      <a:srgbClr val="282842"/>
                    </a:solidFill>
                  </a:tcPr>
                </a:tc>
                <a:tc>
                  <a:txBody>
                    <a:bodyPr/>
                    <a:lstStyle/>
                    <a:p>
                      <a:pPr algn="l"/>
                      <a:r>
                        <a:rPr sz="1000">
                          <a:solidFill>
                            <a:srgbClr val="FFFFFF"/>
                          </a:solidFill>
                        </a:rPr>
                        <a:t>~5-15%</a:t>
                      </a:r>
                    </a:p>
                  </a:txBody>
                  <a:tcPr marL="101600" marR="101600" marT="38100" marB="38100" anchor="ctr">
                    <a:solidFill>
                      <a:srgbClr val="282842"/>
                    </a:solidFill>
                  </a:tcPr>
                </a:tc>
                <a:tc>
                  <a:txBody>
                    <a:bodyPr/>
                    <a:lstStyle/>
                    <a:p>
                      <a:pPr algn="l"/>
                      <a:r>
                        <a:rPr sz="1000">
                          <a:solidFill>
                            <a:srgbClr val="FFFFFF"/>
                          </a:solidFill>
                        </a:rPr>
                        <a:t>Flag + alignment</a:t>
                      </a:r>
                    </a:p>
                  </a:txBody>
                  <a:tcPr marL="101600" marR="101600" marT="38100" marB="38100" anchor="ctr">
                    <a:solidFill>
                      <a:srgbClr val="282842"/>
                    </a:solidFill>
                  </a:tcPr>
                </a:tc>
                <a:extLst>
                  <a:ext uri="{0D108BD9-81ED-4DB2-BD59-A6C34878D82A}">
                    <a16:rowId xmlns:a16="http://schemas.microsoft.com/office/drawing/2014/main" val="10002"/>
                  </a:ext>
                </a:extLst>
              </a:tr>
              <a:tr h="205740">
                <a:tc>
                  <a:txBody>
                    <a:bodyPr/>
                    <a:lstStyle/>
                    <a:p>
                      <a:pPr algn="l"/>
                      <a:r>
                        <a:rPr sz="1000">
                          <a:solidFill>
                            <a:srgbClr val="FFFFFF"/>
                          </a:solidFill>
                        </a:rPr>
                        <a:t>io_uring + O_DIRECT</a:t>
                      </a:r>
                    </a:p>
                  </a:txBody>
                  <a:tcPr marL="101600" marR="101600" marT="38100" marB="38100" anchor="ctr">
                    <a:solidFill>
                      <a:srgbClr val="22223A"/>
                    </a:solidFill>
                  </a:tcPr>
                </a:tc>
                <a:tc>
                  <a:txBody>
                    <a:bodyPr/>
                    <a:lstStyle/>
                    <a:p>
                      <a:pPr algn="l"/>
                      <a:r>
                        <a:rPr sz="1000">
                          <a:solidFill>
                            <a:srgbClr val="FFFFFF"/>
                          </a:solidFill>
                        </a:rPr>
                        <a:t>All combined</a:t>
                      </a:r>
                    </a:p>
                  </a:txBody>
                  <a:tcPr marL="101600" marR="101600" marT="38100" marB="38100" anchor="ctr">
                    <a:solidFill>
                      <a:srgbClr val="22223A"/>
                    </a:solidFill>
                  </a:tcPr>
                </a:tc>
                <a:tc>
                  <a:txBody>
                    <a:bodyPr/>
                    <a:lstStyle/>
                    <a:p>
                      <a:pPr algn="l"/>
                      <a:r>
                        <a:rPr sz="1000">
                          <a:solidFill>
                            <a:srgbClr val="FFFFFF"/>
                          </a:solidFill>
                        </a:rPr>
                        <a:t>~15-30%</a:t>
                      </a:r>
                    </a:p>
                  </a:txBody>
                  <a:tcPr marL="101600" marR="101600" marT="38100" marB="38100" anchor="ctr">
                    <a:solidFill>
                      <a:srgbClr val="22223A"/>
                    </a:solidFill>
                  </a:tcPr>
                </a:tc>
                <a:tc>
                  <a:txBody>
                    <a:bodyPr/>
                    <a:lstStyle/>
                    <a:p>
                      <a:pPr algn="l"/>
                      <a:r>
                        <a:rPr sz="1000">
                          <a:solidFill>
                            <a:srgbClr val="FFFFFF"/>
                          </a:solidFill>
                        </a:rPr>
                        <a:t>New backend</a:t>
                      </a:r>
                    </a:p>
                  </a:txBody>
                  <a:tcPr marL="101600" marR="101600" marT="38100" marB="38100" anchor="ctr">
                    <a:solidFill>
                      <a:srgbClr val="22223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8046720" cy="640080"/>
          </a:xfrm>
          <a:prstGeom prst="rect">
            <a:avLst/>
          </a:prstGeom>
          <a:noFill/>
        </p:spPr>
        <p:txBody>
          <a:bodyPr wrap="square">
            <a:spAutoFit/>
          </a:bodyPr>
          <a:lstStyle/>
          <a:p>
            <a:pPr algn="l"/>
            <a:r>
              <a:rPr sz="2600" b="1">
                <a:solidFill>
                  <a:srgbClr val="4FC3F7"/>
                </a:solidFill>
              </a:rPr>
              <a:t>Auto-Tuning &amp; Roadmap</a:t>
            </a:r>
          </a:p>
        </p:txBody>
      </p:sp>
      <p:sp>
        <p:nvSpPr>
          <p:cNvPr id="3" name="TextBox 2"/>
          <p:cNvSpPr txBox="1"/>
          <p:nvPr/>
        </p:nvSpPr>
        <p:spPr>
          <a:xfrm>
            <a:off x="548640" y="1005840"/>
            <a:ext cx="8046720" cy="777240"/>
          </a:xfrm>
          <a:prstGeom prst="rect">
            <a:avLst/>
          </a:prstGeom>
          <a:noFill/>
        </p:spPr>
        <p:txBody>
          <a:bodyPr wrap="square">
            <a:spAutoFit/>
          </a:bodyPr>
          <a:lstStyle/>
          <a:p>
            <a:pPr algn="l"/>
            <a:r>
              <a:rPr sz="1500" b="1">
                <a:solidFill>
                  <a:srgbClr val="4FC3F7"/>
                </a:solidFill>
              </a:rPr>
              <a:t>The tuning problem:</a:t>
            </a:r>
          </a:p>
          <a:p>
            <a:pPr algn="l">
              <a:spcBef>
                <a:spcPts val="600"/>
              </a:spcBef>
              <a:spcAft>
                <a:spcPts val="200"/>
              </a:spcAft>
            </a:pPr>
            <a:r>
              <a:rPr sz="1200" b="0">
                <a:solidFill>
                  <a:srgbClr val="FFFFFF"/>
                </a:solidFill>
              </a:rPr>
              <a:t>~15 tunable parameters across existing + new backends</a:t>
            </a:r>
          </a:p>
          <a:p>
            <a:pPr algn="l">
              <a:spcBef>
                <a:spcPts val="600"/>
              </a:spcBef>
              <a:spcAft>
                <a:spcPts val="200"/>
              </a:spcAft>
            </a:pPr>
            <a:r>
              <a:rPr sz="1200" b="0">
                <a:solidFill>
                  <a:srgbClr val="FFFFFF"/>
                </a:solidFill>
              </a:rPr>
              <a:t>Optimal values depend on hardware and interact non-trivially</a:t>
            </a:r>
          </a:p>
          <a:p>
            <a:pPr algn="l">
              <a:spcBef>
                <a:spcPts val="600"/>
              </a:spcBef>
              <a:spcAft>
                <a:spcPts val="200"/>
              </a:spcAft>
            </a:pPr>
            <a:r>
              <a:rPr sz="1200" b="0">
                <a:solidFill>
                  <a:srgbClr val="FFFFFF"/>
                </a:solidFill>
              </a:rPr>
              <a:t>Manual tuning doesn't scale across deployment targets</a:t>
            </a:r>
          </a:p>
        </p:txBody>
      </p:sp>
      <p:graphicFrame>
        <p:nvGraphicFramePr>
          <p:cNvPr id="4" name="Table 3"/>
          <p:cNvGraphicFramePr>
            <a:graphicFrameLocks noGrp="1"/>
          </p:cNvGraphicFramePr>
          <p:nvPr/>
        </p:nvGraphicFramePr>
        <p:xfrm>
          <a:off x="548640" y="2148840"/>
          <a:ext cx="8046720" cy="6858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198120">
                <a:tc>
                  <a:txBody>
                    <a:bodyPr/>
                    <a:lstStyle/>
                    <a:p>
                      <a:pPr algn="l"/>
                      <a:r>
                        <a:rPr sz="1000" b="1">
                          <a:solidFill>
                            <a:srgbClr val="4FC3F7"/>
                          </a:solidFill>
                        </a:rPr>
                        <a:t>Method</a:t>
                      </a:r>
                    </a:p>
                  </a:txBody>
                  <a:tcPr marL="101600" marR="101600" marT="38100" marB="38100" anchor="ctr">
                    <a:solidFill>
                      <a:srgbClr val="2A2A45"/>
                    </a:solidFill>
                  </a:tcPr>
                </a:tc>
                <a:tc>
                  <a:txBody>
                    <a:bodyPr/>
                    <a:lstStyle/>
                    <a:p>
                      <a:pPr algn="l"/>
                      <a:r>
                        <a:rPr sz="1000" b="1">
                          <a:solidFill>
                            <a:srgbClr val="4FC3F7"/>
                          </a:solidFill>
                        </a:rPr>
                        <a:t>What it tunes</a:t>
                      </a:r>
                    </a:p>
                  </a:txBody>
                  <a:tcPr marL="101600" marR="101600" marT="38100" marB="38100" anchor="ctr">
                    <a:solidFill>
                      <a:srgbClr val="2A2A45"/>
                    </a:solidFill>
                  </a:tcPr>
                </a:tc>
                <a:tc>
                  <a:txBody>
                    <a:bodyPr/>
                    <a:lstStyle/>
                    <a:p>
                      <a:pPr algn="l"/>
                      <a:r>
                        <a:rPr sz="1000" b="1">
                          <a:solidFill>
                            <a:srgbClr val="4FC3F7"/>
                          </a:solidFill>
                        </a:rPr>
                        <a:t>Best for</a:t>
                      </a:r>
                    </a:p>
                  </a:txBody>
                  <a:tcPr marL="101600" marR="101600" marT="38100" marB="38100" anchor="ctr">
                    <a:solidFill>
                      <a:srgbClr val="2A2A45"/>
                    </a:solidFill>
                  </a:tcPr>
                </a:tc>
                <a:extLst>
                  <a:ext uri="{0D108BD9-81ED-4DB2-BD59-A6C34878D82A}">
                    <a16:rowId xmlns:a16="http://schemas.microsoft.com/office/drawing/2014/main" val="10000"/>
                  </a:ext>
                </a:extLst>
              </a:tr>
              <a:tr h="198120">
                <a:tc>
                  <a:txBody>
                    <a:bodyPr/>
                    <a:lstStyle/>
                    <a:p>
                      <a:pPr algn="l"/>
                      <a:r>
                        <a:rPr sz="1000">
                          <a:solidFill>
                            <a:srgbClr val="FFFFFF"/>
                          </a:solidFill>
                        </a:rPr>
                        <a:t>Bayesian (Optuna)</a:t>
                      </a:r>
                    </a:p>
                  </a:txBody>
                  <a:tcPr marL="101600" marR="101600" marT="38100" marB="38100" anchor="ctr">
                    <a:solidFill>
                      <a:srgbClr val="22223A"/>
                    </a:solidFill>
                  </a:tcPr>
                </a:tc>
                <a:tc>
                  <a:txBody>
                    <a:bodyPr/>
                    <a:lstStyle/>
                    <a:p>
                      <a:pPr algn="l"/>
                      <a:r>
                        <a:rPr sz="1000">
                          <a:solidFill>
                            <a:srgbClr val="FFFFFF"/>
                          </a:solidFill>
                        </a:rPr>
                        <a:t>All parameters</a:t>
                      </a:r>
                    </a:p>
                  </a:txBody>
                  <a:tcPr marL="101600" marR="101600" marT="38100" marB="38100" anchor="ctr">
                    <a:solidFill>
                      <a:srgbClr val="22223A"/>
                    </a:solidFill>
                  </a:tcPr>
                </a:tc>
                <a:tc>
                  <a:txBody>
                    <a:bodyPr/>
                    <a:lstStyle/>
                    <a:p>
                      <a:pPr algn="l"/>
                      <a:r>
                        <a:rPr sz="1000">
                          <a:solidFill>
                            <a:srgbClr val="FFFFFF"/>
                          </a:solidFill>
                        </a:rPr>
                        <a:t>Per-machine optimal config</a:t>
                      </a:r>
                    </a:p>
                  </a:txBody>
                  <a:tcPr marL="101600" marR="101600" marT="38100" marB="38100" anchor="ctr">
                    <a:solidFill>
                      <a:srgbClr val="22223A"/>
                    </a:solidFill>
                  </a:tcPr>
                </a:tc>
                <a:extLst>
                  <a:ext uri="{0D108BD9-81ED-4DB2-BD59-A6C34878D82A}">
                    <a16:rowId xmlns:a16="http://schemas.microsoft.com/office/drawing/2014/main" val="10001"/>
                  </a:ext>
                </a:extLst>
              </a:tr>
              <a:tr h="198120">
                <a:tc>
                  <a:txBody>
                    <a:bodyPr/>
                    <a:lstStyle/>
                    <a:p>
                      <a:pPr algn="l"/>
                      <a:r>
                        <a:rPr sz="1000">
                          <a:solidFill>
                            <a:srgbClr val="FFFFFF"/>
                          </a:solidFill>
                        </a:rPr>
                        <a:t>Evolutionary (OpenEvolve)</a:t>
                      </a:r>
                    </a:p>
                  </a:txBody>
                  <a:tcPr marL="101600" marR="101600" marT="38100" marB="38100" anchor="ctr">
                    <a:solidFill>
                      <a:srgbClr val="282842"/>
                    </a:solidFill>
                  </a:tcPr>
                </a:tc>
                <a:tc>
                  <a:txBody>
                    <a:bodyPr/>
                    <a:lstStyle/>
                    <a:p>
                      <a:pPr algn="l"/>
                      <a:r>
                        <a:rPr sz="1000">
                          <a:solidFill>
                            <a:srgbClr val="FFFFFF"/>
                          </a:solidFill>
                        </a:rPr>
                        <a:t>Parameters + code strategies</a:t>
                      </a:r>
                    </a:p>
                  </a:txBody>
                  <a:tcPr marL="101600" marR="101600" marT="38100" marB="38100" anchor="ctr">
                    <a:solidFill>
                      <a:srgbClr val="282842"/>
                    </a:solidFill>
                  </a:tcPr>
                </a:tc>
                <a:tc>
                  <a:txBody>
                    <a:bodyPr/>
                    <a:lstStyle/>
                    <a:p>
                      <a:pPr algn="l"/>
                      <a:r>
                        <a:rPr sz="1000">
                          <a:solidFill>
                            <a:srgbClr val="FFFFFF"/>
                          </a:solidFill>
                        </a:rPr>
                        <a:t>Discovering new I/O patterns</a:t>
                      </a:r>
                    </a:p>
                  </a:txBody>
                  <a:tcPr marL="101600" marR="101600" marT="38100" marB="38100" anchor="ctr">
                    <a:solidFill>
                      <a:srgbClr val="282842"/>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548640" y="2971800"/>
            <a:ext cx="8046720" cy="1920240"/>
          </a:xfrm>
          <a:prstGeom prst="rect">
            <a:avLst/>
          </a:prstGeom>
          <a:noFill/>
        </p:spPr>
        <p:txBody>
          <a:bodyPr wrap="square">
            <a:spAutoFit/>
          </a:bodyPr>
          <a:lstStyle/>
          <a:p>
            <a:pPr algn="l"/>
            <a:r>
              <a:rPr sz="1500" b="1">
                <a:solidFill>
                  <a:srgbClr val="66BB6A"/>
                </a:solidFill>
              </a:rPr>
              <a:t>Recommended Roadmap:</a:t>
            </a:r>
          </a:p>
          <a:p>
            <a:pPr>
              <a:spcBef>
                <a:spcPts val="300"/>
              </a:spcBef>
              <a:spcAft>
                <a:spcPts val="100"/>
              </a:spcAft>
            </a:pPr>
            <a:r>
              <a:rPr sz="1200" b="1">
                <a:solidFill>
                  <a:srgbClr val="FFA726"/>
                </a:solidFill>
              </a:rPr>
              <a:t>1. </a:t>
            </a:r>
            <a:r>
              <a:rPr sz="1200">
                <a:solidFill>
                  <a:srgbClr val="FFFFFF"/>
                </a:solidFill>
              </a:rPr>
              <a:t>Add tunable parameters + POSIX hints to existing C++ backend</a:t>
            </a:r>
            <a:r>
              <a:rPr sz="1000">
                <a:solidFill>
                  <a:srgbClr val="BBBBBB"/>
                </a:solidFill>
              </a:rPr>
              <a:t>  (quick win)</a:t>
            </a:r>
          </a:p>
          <a:p>
            <a:pPr>
              <a:spcBef>
                <a:spcPts val="300"/>
              </a:spcBef>
              <a:spcAft>
                <a:spcPts val="100"/>
              </a:spcAft>
            </a:pPr>
            <a:r>
              <a:rPr sz="1200" b="1">
                <a:solidFill>
                  <a:srgbClr val="FFA726"/>
                </a:solidFill>
              </a:rPr>
              <a:t>2. </a:t>
            </a:r>
            <a:r>
              <a:rPr sz="1200">
                <a:solidFill>
                  <a:srgbClr val="FFFFFF"/>
                </a:solidFill>
              </a:rPr>
              <a:t>Build io_uring + O_DIRECT backend</a:t>
            </a:r>
            <a:r>
              <a:rPr sz="1000">
                <a:solidFill>
                  <a:srgbClr val="BBBBBB"/>
                </a:solidFill>
              </a:rPr>
              <a:t>  (main investment)</a:t>
            </a:r>
          </a:p>
          <a:p>
            <a:pPr>
              <a:spcBef>
                <a:spcPts val="300"/>
              </a:spcBef>
              <a:spcAft>
                <a:spcPts val="100"/>
              </a:spcAft>
            </a:pPr>
            <a:r>
              <a:rPr sz="1200" b="1">
                <a:solidFill>
                  <a:srgbClr val="FFA726"/>
                </a:solidFill>
              </a:rPr>
              <a:t>3. </a:t>
            </a:r>
            <a:r>
              <a:rPr sz="1200">
                <a:solidFill>
                  <a:srgbClr val="FFFFFF"/>
                </a:solidFill>
              </a:rPr>
              <a:t>Bayesian auto-tuning per deployment target (Optuna)</a:t>
            </a:r>
            <a:r>
              <a:rPr sz="1000">
                <a:solidFill>
                  <a:srgbClr val="BBBBBB"/>
                </a:solidFill>
              </a:rPr>
              <a:t>  (optimal config)</a:t>
            </a:r>
          </a:p>
          <a:p>
            <a:pPr>
              <a:spcBef>
                <a:spcPts val="300"/>
              </a:spcBef>
              <a:spcAft>
                <a:spcPts val="100"/>
              </a:spcAft>
            </a:pPr>
            <a:r>
              <a:rPr sz="1200" b="1">
                <a:solidFill>
                  <a:srgbClr val="FFA726"/>
                </a:solidFill>
              </a:rPr>
              <a:t>4. </a:t>
            </a:r>
            <a:r>
              <a:rPr sz="1200">
                <a:solidFill>
                  <a:srgbClr val="FFFFFF"/>
                </a:solidFill>
              </a:rPr>
              <a:t>Evolutionary search for code-level strategies (OpenEvolve)</a:t>
            </a:r>
            <a:r>
              <a:rPr sz="1000">
                <a:solidFill>
                  <a:srgbClr val="BBBBBB"/>
                </a:solidFill>
              </a:rPr>
              <a:t>  (exploration)</a:t>
            </a:r>
          </a:p>
          <a:p>
            <a:pPr algn="l">
              <a:spcBef>
                <a:spcPts val="1200"/>
              </a:spcBef>
              <a:spcAft>
                <a:spcPts val="200"/>
              </a:spcAft>
            </a:pPr>
            <a:r>
              <a:rPr sz="1400" b="1">
                <a:solidFill>
                  <a:srgbClr val="FFA726"/>
                </a:solidFill>
              </a:rPr>
              <a:t>Build once, auto-tune everywhere.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3185</Words>
  <Application>Microsoft Office PowerPoint</Application>
  <PresentationFormat>On-screen Show (16:9)</PresentationFormat>
  <Paragraphs>189</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YEVGENY YAROKER</cp:lastModifiedBy>
  <cp:revision>2</cp:revision>
  <dcterms:created xsi:type="dcterms:W3CDTF">2013-01-27T09:14:16Z</dcterms:created>
  <dcterms:modified xsi:type="dcterms:W3CDTF">2026-03-29T14:57:17Z</dcterms:modified>
  <cp:category/>
</cp:coreProperties>
</file>